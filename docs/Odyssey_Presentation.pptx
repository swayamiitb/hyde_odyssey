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26f7cc97914bb5" /><Relationship Type="http://schemas.openxmlformats.org/officeDocument/2006/relationships/extended-properties" Target="/docProps/app.xml" Id="R0834af162524447c" /><Relationship Type="http://schemas.openxmlformats.org/officeDocument/2006/relationships/officeDocument" Target="/ppt/presentation.xml" Id="R8bc7ada421de4c86" /></Relationships>
</file>

<file path=ppt/presentation.xml><?xml version="1.0" encoding="utf-8"?>
<p:presentation xmlns:p="http://schemas.openxmlformats.org/presentationml/2006/main">
  <p:sldMasterIdLst>
    <p:sldMasterId xmlns:r="http://schemas.openxmlformats.org/officeDocument/2006/relationships" id="2147483648" r:id="R2cbe84dbaf37451d"/>
  </p:sldMasterIdLst>
  <p:notesMasterIdLst>
    <p:notesMasterId xmlns:r="http://schemas.openxmlformats.org/officeDocument/2006/relationships" r:id="Rf98d33dc1fc945e6"/>
  </p:notesMasterIdLst>
  <p:sldIdLst>
    <p:sldId xmlns:r="http://schemas.openxmlformats.org/officeDocument/2006/relationships" id="256" r:id="R6c9bd6e305b24fae"/>
    <p:sldId xmlns:r="http://schemas.openxmlformats.org/officeDocument/2006/relationships" id="257" r:id="R9a5497a534ba4cf3"/>
    <p:sldId xmlns:r="http://schemas.openxmlformats.org/officeDocument/2006/relationships" id="258" r:id="R48df91f895464147"/>
    <p:sldId xmlns:r="http://schemas.openxmlformats.org/officeDocument/2006/relationships" id="259" r:id="R59e7c91e88e646c1"/>
    <p:sldId xmlns:r="http://schemas.openxmlformats.org/officeDocument/2006/relationships" id="260" r:id="Re1e923465d5643cd"/>
    <p:sldId xmlns:r="http://schemas.openxmlformats.org/officeDocument/2006/relationships" id="261" r:id="Re60b28a8a0cf48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a8f8f4441a464d" /><Relationship Type="http://schemas.openxmlformats.org/officeDocument/2006/relationships/slideMaster" Target="/ppt/slideMasters/slideMaster1.xml" Id="R2cbe84dbaf37451d" /><Relationship Type="http://schemas.openxmlformats.org/officeDocument/2006/relationships/notesMaster" Target="/ppt/notesMasters/notesMaster1.xml" Id="Rf98d33dc1fc945e6" /><Relationship Type="http://schemas.openxmlformats.org/officeDocument/2006/relationships/presProps" Target="/ppt/presProps.xml" Id="R60db2a1825344378" /><Relationship Type="http://schemas.openxmlformats.org/officeDocument/2006/relationships/tableStyles" Target="/ppt/tableStyles.xml" Id="R9093236e357e41a3" /><Relationship Type="http://schemas.openxmlformats.org/officeDocument/2006/relationships/slide" Target="/ppt/slides/slide1.xml" Id="R6c9bd6e305b24fae" /><Relationship Type="http://schemas.openxmlformats.org/officeDocument/2006/relationships/slide" Target="/ppt/slides/slide2.xml" Id="R9a5497a534ba4cf3" /><Relationship Type="http://schemas.openxmlformats.org/officeDocument/2006/relationships/slide" Target="/ppt/slides/slide3.xml" Id="R48df91f895464147" /><Relationship Type="http://schemas.openxmlformats.org/officeDocument/2006/relationships/slide" Target="/ppt/slides/slide4.xml" Id="R59e7c91e88e646c1" /><Relationship Type="http://schemas.openxmlformats.org/officeDocument/2006/relationships/slide" Target="/ppt/slides/slide5.xml" Id="Re1e923465d5643cd" /><Relationship Type="http://schemas.openxmlformats.org/officeDocument/2006/relationships/slide" Target="/ppt/slides/slide6.xml" Id="Re60b28a8a0cf48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7fc058224d4e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998761144e4d06" /><Relationship Type="http://schemas.openxmlformats.org/officeDocument/2006/relationships/notesMaster" Target="/ppt/notesMasters/notesMaster1.xml" Id="Rc4d1525aa53e42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054f5589bf4fdb" /><Relationship Type="http://schemas.openxmlformats.org/officeDocument/2006/relationships/notesMaster" Target="/ppt/notesMasters/notesMaster1.xml" Id="R2a74a0b2bc684d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8dcb4007794cfa" /><Relationship Type="http://schemas.openxmlformats.org/officeDocument/2006/relationships/notesMaster" Target="/ppt/notesMasters/notesMaster1.xml" Id="Rca8ae6ae41a142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7b7fe9b96849e5" /><Relationship Type="http://schemas.openxmlformats.org/officeDocument/2006/relationships/notesMaster" Target="/ppt/notesMasters/notesMaster1.xml" Id="R63f672a8cf2f48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8efc3d05ba4102" /><Relationship Type="http://schemas.openxmlformats.org/officeDocument/2006/relationships/notesMaster" Target="/ppt/notesMasters/notesMaster1.xml" Id="Rcd49a864042e47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bd256f17664fff" /><Relationship Type="http://schemas.openxmlformats.org/officeDocument/2006/relationships/notesMaster" Target="/ppt/notesMasters/notesMaster1.xml" Id="R2c5534e556bb43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40 seconds.</a:t>
            </a:r>
          </a:p>
          <a:p xmlns:a="http://schemas.openxmlformats.org/drawingml/2006/main">
            <a:r>
              <a:t/>
            </a:r>
          </a:p>
          <a:p xmlns:a="http://schemas.openxmlformats.org/drawingml/2006/main">
            <a:r>
              <a:t>We are Team Odyssey. Our agent combines resource-aware search with a compact learned value model. The frozen release won 797 out of 1,000 games against F under the official local harness, with no recorded faults or clock overruns. This is a local result, not a leaderboard score. We will explain how we allocated compute, what learning added, and which experiments failed to justify more complexity. The aim was reliable decision quality within the game clock.</a:t>
            </a:r>
          </a:p>
          <a:p xmlns:a="http://schemas.openxmlformats.org/drawingml/2006/main">
            <a:r>
              <a:t/>
            </a:r>
          </a:p>
          <a:p xmlns:a="http://schemas.openxmlformats.org/drawingml/2006/main">
            <a:r>
              <a:t>Sources:</a:t>
            </a:r>
          </a:p>
          <a:p xmlns:a="http://schemas.openxmlformats.org/drawingml/2006/main">
            <a:r>
              <a:t>https://github.com/lyric-hyde/catan-hackathon-agent/blob/main/PROBLEM_STATEMENT.md</a:t>
            </a:r>
          </a:p>
          <a:p xmlns:a="http://schemas.openxmlformats.org/drawingml/2006/main">
            <a:r>
              <a:t>https://github.com/swayamiitb/Hyde_Odyssey/blob/main/evidence/learned_final_1000/summary.json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80 seconds.</a:t>
            </a:r>
          </a:p>
          <a:p xmlns:a="http://schemas.openxmlformats.org/drawingml/2006/main">
            <a:r>
              <a:t/>
            </a:r>
          </a:p>
          <a:p xmlns:a="http://schemas.openxmlformats.org/drawingml/2006/main">
            <a:r>
              <a:t>The allowance makes search allocation a design decision. We first value the two opening settlements together because resource coverage and ports shape the whole game. We use an approximate model of F to anticipate which sites may disappear. During ordinary play, we score the state after each legal action. The evaluation combines points with a concave production utility, useful hand resources, reachable expansion and progress toward road and army awards. A narrow beam then explores follow-up actions within the same turn. Its limits are six candidates, five action levels and 160 successor nodes, with at most 18 milliseconds for follow-up search. That limit excludes root scoring and opening placement. At nine points, a targeted trade planner checks short sequences that enable a win. Below 40 milliseconds of remaining allowance, the policy returns a legal priority move. Development-card purchases use the expected value over the publicly unseen multiset, so a lucky sampled deck does not drive buying.</a:t>
            </a:r>
          </a:p>
          <a:p xmlns:a="http://schemas.openxmlformats.org/drawingml/2006/main">
            <a:r>
              <a:t/>
            </a:r>
          </a:p>
          <a:p xmlns:a="http://schemas.openxmlformats.org/drawingml/2006/main">
            <a:r>
              <a:t>Sources:</a:t>
            </a:r>
          </a:p>
          <a:p xmlns:a="http://schemas.openxmlformats.org/drawingml/2006/main">
            <a:r>
              <a:t>https://github.com/lyric-hyde/catan-hackathon-agent/blob/main/PROBLEM_STATEMENT.md</a:t>
            </a:r>
          </a:p>
          <a:p xmlns:a="http://schemas.openxmlformats.org/drawingml/2006/main">
            <a:r>
              <a:t>https://github.com/swayamiitb/Hyde_Odyssey/blob/main/submission/agent.py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65 seconds.</a:t>
            </a:r>
          </a:p>
          <a:p xmlns:a="http://schemas.openxmlformats.org/drawingml/2006/main">
            <a:r>
              <a:t/>
            </a:r>
          </a:p>
          <a:p xmlns:a="http://schemas.openxmlformats.org/drawingml/2006/main">
            <a:r>
              <a:t>The training set contains 124,344 end-of-turn observations from 1,000 heuristic-versus-F games, viewed from both players. The labels are eventual wins. Ninety-one features describe permitted points, production, resources, ports, robber exposure, structures and build affordability. The opponent development-card identities are excluded. We split by whole game to prevent positions from the same game appearing on both sides. The classifier has 64 shallow gradient-boosted trees. Its validation AUC is 0.8848, but that is a prediction metric and is not a game win rate. We export the trees into plain Python and check the exported scores against the fitted implementation on 100 held-out vectors. The runtime agent embeds the weights, so it needs no model server or additional weight-loading step.</a:t>
            </a:r>
          </a:p>
          <a:p xmlns:a="http://schemas.openxmlformats.org/drawingml/2006/main">
            <a:r>
              <a:t/>
            </a:r>
          </a:p>
          <a:p xmlns:a="http://schemas.openxmlformats.org/drawingml/2006/main">
            <a:r>
              <a:t>Sources:</a:t>
            </a:r>
          </a:p>
          <a:p xmlns:a="http://schemas.openxmlformats.org/drawingml/2006/main">
            <a:r>
              <a:t>https://github.com/swayamiitb/Hyde_Odyssey/blob/main/training/train_value.py</a:t>
            </a:r>
          </a:p>
          <a:p xmlns:a="http://schemas.openxmlformats.org/drawingml/2006/main">
            <a:r>
              <a:t>https://github.com/swayamiitb/Hyde_Odyssey/blob/main/models/training_metrics.json</a:t>
            </a:r>
          </a:p>
          <a:p xmlns:a="http://schemas.openxmlformats.org/drawingml/2006/main">
            <a:r>
              <a:t>https://scikit-learn.org/stable/modules/generated/sklearn.ensemble.HistGradientBoostingClassifier.html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70 seconds.</a:t>
            </a:r>
          </a:p>
          <a:p xmlns:a="http://schemas.openxmlformats.org/drawingml/2006/main">
            <a:r>
              <a:t/>
            </a:r>
          </a:p>
          <a:p xmlns:a="http://schemas.openxmlformats.org/drawingml/2006/main">
            <a:r>
              <a:t>We compared the heuristic control and two blend strengths on the same 400 games. The 0.4 blend won 318 games, two more than the control. The selection rule chose the most wins among candidates with no faults or clock overruns. This is a small lead, not strong evidence for a learning gain. We then froze that source before running 1,000 fresh games. It won 797, with a board-pair clustered interval from 77.18 to 82.22 percent. Each board is played from both seats with the same dice stream. Fixed batches preserve game indices and agent lifetimes when worker counts change. Manifests include source and harness hashes. We retained all per-game records and verified complete counts. A separate heuristic holdout scored 79.6 percent on different boards, so its difference from 79.7 percent does not prove improvement.</a:t>
            </a:r>
          </a:p>
          <a:p xmlns:a="http://schemas.openxmlformats.org/drawingml/2006/main">
            <a:r>
              <a:t/>
            </a:r>
          </a:p>
          <a:p xmlns:a="http://schemas.openxmlformats.org/drawingml/2006/main">
            <a:r>
              <a:t>Sources:</a:t>
            </a:r>
          </a:p>
          <a:p xmlns:a="http://schemas.openxmlformats.org/drawingml/2006/main">
            <a:r>
              <a:t>https://github.com/swayamiitb/Hyde_Odyssey/blob/main/evidence/selection.json</a:t>
            </a:r>
          </a:p>
          <a:p xmlns:a="http://schemas.openxmlformats.org/drawingml/2006/main">
            <a:r>
              <a:t>https://github.com/swayamiitb/Hyde_Odyssey/blob/main/evidence/learned_final_1000/manifest.json</a:t>
            </a:r>
          </a:p>
          <a:p xmlns:a="http://schemas.openxmlformats.org/drawingml/2006/main">
            <a:r>
              <a:t>https://github.com/swayamiitb/Hyde_Odyssey/blob/main/evidence/learned_final_1000/summary.json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65 seconds.</a:t>
            </a:r>
          </a:p>
          <a:p xmlns:a="http://schemas.openxmlformats.org/drawingml/2006/main">
            <a:r>
              <a:t/>
            </a:r>
          </a:p>
          <a:p xmlns:a="http://schemas.openxmlformats.org/drawingml/2006/main">
            <a:r>
              <a:t>The compact beam won 331 out of 400 games, versus 329 for the broad beam and 327 for the wide beam. Those win differences are small, but the broad beam consumed about 529 milliseconds per game compared with 337 for the compact beam. The observed cost did not buy a measured advantage. We also examined excessive development-card buying after Largest Army. Lowering spare-knight value sounded reasonable, but it won 326 games against a control with 334 on the same screen. Broader card reweighting won 323. We did not ship either change. The general lesson is to test plausible strategy changes against a frozen control and keep the gameplay outcome separate from a model metric or an appealing explanation. Failed experiments helped us narrow the policy without overstating certainty.</a:t>
            </a:r>
          </a:p>
          <a:p xmlns:a="http://schemas.openxmlformats.org/drawingml/2006/main">
            <a:r>
              <a:t/>
            </a:r>
          </a:p>
          <a:p xmlns:a="http://schemas.openxmlformats.org/drawingml/2006/main">
            <a:r>
              <a:t>Sources:</a:t>
            </a:r>
          </a:p>
          <a:p xmlns:a="http://schemas.openxmlformats.org/drawingml/2006/main">
            <a:r>
              <a:t>https://github.com/swayamiitb/Hyde_Odyssey/blob/main/evidence/screen_beam_compact/summary.json</a:t>
            </a:r>
          </a:p>
          <a:p xmlns:a="http://schemas.openxmlformats.org/drawingml/2006/main">
            <a:r>
              <a:t>https://github.com/swayamiitb/Hyde_Odyssey/blob/main/evidence/screen_beam_broad/summary.json</a:t>
            </a:r>
          </a:p>
          <a:p xmlns:a="http://schemas.openxmlformats.org/drawingml/2006/main">
            <a:r>
              <a:t>https://github.com/swayamiitb/Hyde_Odyssey/blob/main/evidence/screen_beam_wide/summary.json</a:t>
            </a:r>
          </a:p>
          <a:p xmlns:a="http://schemas.openxmlformats.org/drawingml/2006/main">
            <a:r>
              <a:t>https://github.com/swayamiitb/Hyde_Odyssey/blob/main/evidence/army_control/summary.json</a:t>
            </a:r>
          </a:p>
          <a:p xmlns:a="http://schemas.openxmlformats.org/drawingml/2006/main">
            <a:r>
              <a:t>https://github.com/swayamiitb/Hyde_Odyssey/blob/main/evidence/army_knight_005/summary.json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40 seconds.</a:t>
            </a:r>
          </a:p>
          <a:p xmlns:a="http://schemas.openxmlformats.org/drawingml/2006/main">
            <a:r>
              <a:t/>
            </a:r>
          </a:p>
          <a:p xmlns:a="http://schemas.openxmlformats.org/drawingml/2006/main">
            <a:r>
              <a:t>The behavior checks cover legal immutable openings, a two-trade winning city, development-card expectation, the free-road cache and a low-clock fallback. The runtime ZIP contains one file because the learned trees are embedded. Its source hash matches the measured release. The limitations are material: we have no O or group-opponent result for this snapshot, and local timing is not organizer-machine timing. Our next experiments would broaden the opponent distribution and improve action-ranking labels before adding more runtime search. The evidence supports reliable local play against F, while broader robustness remains an open question.</a:t>
            </a:r>
          </a:p>
          <a:p xmlns:a="http://schemas.openxmlformats.org/drawingml/2006/main">
            <a:r>
              <a:t/>
            </a:r>
          </a:p>
          <a:p xmlns:a="http://schemas.openxmlformats.org/drawingml/2006/main">
            <a:r>
              <a:t>Sources:</a:t>
            </a:r>
          </a:p>
          <a:p xmlns:a="http://schemas.openxmlformats.org/drawingml/2006/main">
            <a:r>
              <a:t>https://github.com/swayamiitb/Hyde_Odyssey/blob/main/tests/test_agent.py</a:t>
            </a:r>
          </a:p>
          <a:p xmlns:a="http://schemas.openxmlformats.org/drawingml/2006/main">
            <a:r>
              <a:t>https://github.com/swayamiitb/Hyde_Odyssey/blob/main/evidence/release.json</a:t>
            </a:r>
          </a:p>
          <a:p xmlns:a="http://schemas.openxmlformats.org/drawingml/2006/main">
            <a:r>
              <a:t>https://github.com/lyric-hyde/catan-hackathon-agent/blob/main/PROBLEM_STATEMENT.md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f6d498d04043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ee9e08881f4b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697477e8fb44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7339dd14db41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4bba6ae7f64f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6fd55925f144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64D4BD-5B97-45B8-953E-83F539052EE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9EA868-F12E-4274-92C2-BBE647CD7C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F62C0A-E7F6-4906-B7D8-1332E0679F6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A08339-F1B2-463C-A9B8-9641E28043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035F36-E94B-40B6-8C68-C72A33DEF3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FF063E-EDF2-4038-B601-0605183CC6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800209-A8F5-44EE-A681-D94C6AFCA0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23F6EF-D951-4DFF-80C7-A89B8DA234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FA2A32-83DA-4E8F-BD5A-C797ACE9BD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80D186-2A77-4370-A217-76D08EFAE4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20bb2add6142a6" /><Relationship Type="http://schemas.openxmlformats.org/officeDocument/2006/relationships/slideLayout" Target="/ppt/slideLayouts/slideLayout1.xml" Id="R3206725814da457e" /><Relationship Type="http://schemas.openxmlformats.org/officeDocument/2006/relationships/slideLayout" Target="/ppt/slideLayouts/slideLayout2.xml" Id="Rccf51bf59b094f24" /><Relationship Type="http://schemas.openxmlformats.org/officeDocument/2006/relationships/slideLayout" Target="/ppt/slideLayouts/slideLayout3.xml" Id="R03f9b33c7ea7469d" /><Relationship Type="http://schemas.openxmlformats.org/officeDocument/2006/relationships/slideLayout" Target="/ppt/slideLayouts/slideLayout4.xml" Id="R54d94161bf3849d6" /><Relationship Type="http://schemas.openxmlformats.org/officeDocument/2006/relationships/slideLayout" Target="/ppt/slideLayouts/slideLayout5.xml" Id="Rba223fbf34264f6c" /><Relationship Type="http://schemas.openxmlformats.org/officeDocument/2006/relationships/slideLayout" Target="/ppt/slideLayouts/slideLayout6.xml" Id="R32849a8c873045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06725814da457e"/>
    <p:sldLayoutId xmlns:r="http://schemas.openxmlformats.org/officeDocument/2006/relationships" id="2147483650" r:id="Rccf51bf59b094f24"/>
    <p:sldLayoutId xmlns:r="http://schemas.openxmlformats.org/officeDocument/2006/relationships" id="2147483651" r:id="R03f9b33c7ea7469d"/>
    <p:sldLayoutId xmlns:r="http://schemas.openxmlformats.org/officeDocument/2006/relationships" id="2147483652" r:id="R54d94161bf3849d6"/>
    <p:sldLayoutId xmlns:r="http://schemas.openxmlformats.org/officeDocument/2006/relationships" id="2147483653" r:id="Rba223fbf34264f6c"/>
    <p:sldLayoutId xmlns:r="http://schemas.openxmlformats.org/officeDocument/2006/relationships" id="2147483654" r:id="R32849a8c873045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6bb8e969964ea5" /><Relationship Type="http://schemas.openxmlformats.org/officeDocument/2006/relationships/notesSlide" Target="/ppt/notesSlides/notesSlide1.xml" Id="Rbac129278fb141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e0312626d44140" /><Relationship Type="http://schemas.openxmlformats.org/officeDocument/2006/relationships/notesSlide" Target="/ppt/notesSlides/notesSlide2.xml" Id="R3f23a96fbf3042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5daec79dc8435d" /><Relationship Type="http://schemas.openxmlformats.org/officeDocument/2006/relationships/notesSlide" Target="/ppt/notesSlides/notesSlide3.xml" Id="Rb0771a6065f745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6aef1c37184c3c" /><Relationship Type="http://schemas.openxmlformats.org/officeDocument/2006/relationships/notesSlide" Target="/ppt/notesSlides/notesSlide4.xml" Id="R029a712b941f4d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82f3b86dc048c2" /><Relationship Type="http://schemas.openxmlformats.org/officeDocument/2006/relationships/notesSlide" Target="/ppt/notesSlides/notesSlide5.xml" Id="R9a8fa7b64a7c48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ae8b4dc7c24137" /><Relationship Type="http://schemas.openxmlformats.org/officeDocument/2006/relationships/notesSlide" Target="/ppt/notesSlides/notesSlide6.xml" Id="R30cff22e42304a70" /></Relationships>
</file>

<file path=ppt/slides/slide1.xml><?xml version="1.0" encoding="utf-8"?>
<p:sld xmlns:p="http://schemas.openxmlformats.org/presentationml/2006/main">
  <p:cSld>
    <p:bg>
      <p:bgPr>
        <a:solidFill xmlns:a="http://schemas.openxmlformats.org/drawingml/2006/main">
          <a:srgbClr val="173947"/>
        </a:solidFill>
      </p:bgPr>
    </p:bg>
    <p:spTree>
      <p:nvGrpSpPr>
        <p:cNvPr id="1" name=""/>
        <p:cNvGrpSpPr/>
        <p:nvPr/>
      </p:nvGrpSpPr>
      <p:grpSpPr>
        <a:xfrm xmlns:a="http://schemas.openxmlformats.org/drawingml/2006/main"/>
      </p:grpSpPr>
      <p:sp>
        <p:nvSpPr>
          <p:cNvPr id="7" name="team">
            <a:extLst xmlns:a="http://schemas.openxmlformats.org/drawingml/2006/main">
              <a:ext uri="{FF2B5EF4-FFF2-40B4-BE49-F238E27FC236}">
                <a16:creationId xmlns:a16="http://schemas.microsoft.com/office/drawing/2014/main" id="{7A8B02AB-C417-4E36-9794-8B826820DF59}"/>
              </a:ext>
            </a:extLst>
          </p:cNvPr>
          <p:cNvSpPr>
            <a:spLocks xmlns:a="http://schemas.openxmlformats.org/drawingml/2006/main" noGrp="1"/>
          </p:cNvSpPr>
          <p:nvPr/>
        </p:nvSpPr>
        <p:spPr>
          <a:xfrm xmlns:a="http://schemas.openxmlformats.org/drawingml/2006/main">
            <a:off x="685800" y="6858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99D6DC"/>
                </a:solidFill>
                <a:latin typeface="Arial"/>
                <a:ea typeface="Arial"/>
                <a:cs typeface="Arial"/>
              </a:defRPr>
            </a:defPPr>
            <a:lvl1pPr>
              <a:defRPr sz="2100" b="1">
                <a:solidFill>
                  <a:srgbClr val="99D6DC"/>
                </a:solidFill>
                <a:latin typeface="Arial"/>
                <a:ea typeface="Arial"/>
                <a:cs typeface="Arial"/>
              </a:defRPr>
            </a:lvl1pPr>
            <a:lvl2pPr>
              <a:defRPr sz="2100" b="1">
                <a:solidFill>
                  <a:srgbClr val="99D6DC"/>
                </a:solidFill>
                <a:latin typeface="Arial"/>
                <a:ea typeface="Arial"/>
                <a:cs typeface="Arial"/>
              </a:defRPr>
            </a:lvl2pPr>
            <a:lvl3pPr>
              <a:defRPr sz="2100" b="1">
                <a:solidFill>
                  <a:srgbClr val="99D6DC"/>
                </a:solidFill>
                <a:latin typeface="Arial"/>
                <a:ea typeface="Arial"/>
                <a:cs typeface="Arial"/>
              </a:defRPr>
            </a:lvl3pPr>
            <a:lvl4pPr>
              <a:defRPr sz="2100" b="1">
                <a:solidFill>
                  <a:srgbClr val="99D6DC"/>
                </a:solidFill>
                <a:latin typeface="Arial"/>
                <a:ea typeface="Arial"/>
                <a:cs typeface="Arial"/>
              </a:defRPr>
            </a:lvl4pPr>
            <a:lvl5pPr>
              <a:defRPr sz="2100" b="1">
                <a:solidFill>
                  <a:srgbClr val="99D6DC"/>
                </a:solidFill>
                <a:latin typeface="Arial"/>
                <a:ea typeface="Arial"/>
                <a:cs typeface="Arial"/>
              </a:defRPr>
            </a:lvl5pPr>
            <a:lvl6pPr>
              <a:defRPr sz="2100" b="1">
                <a:solidFill>
                  <a:srgbClr val="99D6DC"/>
                </a:solidFill>
                <a:latin typeface="Arial"/>
                <a:ea typeface="Arial"/>
                <a:cs typeface="Arial"/>
              </a:defRPr>
            </a:lvl6pPr>
            <a:lvl7pPr>
              <a:defRPr sz="2100" b="1">
                <a:solidFill>
                  <a:srgbClr val="99D6DC"/>
                </a:solidFill>
                <a:latin typeface="Arial"/>
                <a:ea typeface="Arial"/>
                <a:cs typeface="Arial"/>
              </a:defRPr>
            </a:lvl7pPr>
            <a:lvl8pPr>
              <a:defRPr sz="2100" b="1">
                <a:solidFill>
                  <a:srgbClr val="99D6DC"/>
                </a:solidFill>
                <a:latin typeface="Arial"/>
                <a:ea typeface="Arial"/>
                <a:cs typeface="Arial"/>
              </a:defRPr>
            </a:lvl8pPr>
            <a:lvl9pPr>
              <a:defRPr sz="2100" b="1">
                <a:solidFill>
                  <a:srgbClr val="99D6DC"/>
                </a:solidFill>
                <a:latin typeface="Arial"/>
                <a:ea typeface="Arial"/>
                <a:cs typeface="Arial"/>
              </a:defRPr>
            </a:lvl9pPr>
          </a:lstStyle>
          <a:p xmlns:a="http://schemas.openxmlformats.org/drawingml/2006/main">
            <a:pPr>
              <a:defRPr sz="2100" b="1">
                <a:solidFill>
                  <a:srgbClr val="99D6DC"/>
                </a:solidFill>
                <a:latin typeface="Arial"/>
                <a:ea typeface="Arial"/>
                <a:cs typeface="Arial"/>
              </a:defRPr>
            </a:pPr>
            <a:r>
              <a:rPr sz="2100" b="1">
                <a:solidFill>
                  <a:srgbClr val="99D6DC"/>
                </a:solidFill>
                <a:latin typeface="Arial"/>
                <a:ea typeface="Arial"/>
                <a:cs typeface="Arial"/>
              </a:rPr>
              <a:t>TEAM ODYSSEY</a:t>
            </a:r>
          </a:p>
        </p:txBody>
      </p:sp>
      <p:sp>
        <p:nvSpPr>
          <p:cNvPr id="2" name="title">
            <a:extLst xmlns:a="http://schemas.openxmlformats.org/drawingml/2006/main">
              <a:ext uri="{FF2B5EF4-FFF2-40B4-BE49-F238E27FC236}">
                <a16:creationId xmlns:a16="http://schemas.microsoft.com/office/drawing/2014/main" id="{73FD4BD3-E2FE-4296-B3B5-846310DF42E9}"/>
              </a:ext>
            </a:extLst>
          </p:cNvPr>
          <p:cNvSpPr>
            <a:spLocks xmlns:a="http://schemas.openxmlformats.org/drawingml/2006/main" noGrp="1"/>
          </p:cNvSpPr>
          <p:nvPr/>
        </p:nvSpPr>
        <p:spPr>
          <a:xfrm xmlns:a="http://schemas.openxmlformats.org/drawingml/2006/main">
            <a:off x="685800" y="14668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FFFFFF"/>
                </a:solidFill>
                <a:latin typeface="Arial"/>
                <a:ea typeface="Arial"/>
                <a:cs typeface="Arial"/>
              </a:defRPr>
            </a:defPPr>
            <a:lvl1pPr>
              <a:defRPr sz="5400" b="1">
                <a:solidFill>
                  <a:srgbClr val="FFFFFF"/>
                </a:solidFill>
                <a:latin typeface="Arial"/>
                <a:ea typeface="Arial"/>
                <a:cs typeface="Arial"/>
              </a:defRPr>
            </a:lvl1pPr>
            <a:lvl2pPr>
              <a:defRPr sz="5400" b="1">
                <a:solidFill>
                  <a:srgbClr val="FFFFFF"/>
                </a:solidFill>
                <a:latin typeface="Arial"/>
                <a:ea typeface="Arial"/>
                <a:cs typeface="Arial"/>
              </a:defRPr>
            </a:lvl2pPr>
            <a:lvl3pPr>
              <a:defRPr sz="5400" b="1">
                <a:solidFill>
                  <a:srgbClr val="FFFFFF"/>
                </a:solidFill>
                <a:latin typeface="Arial"/>
                <a:ea typeface="Arial"/>
                <a:cs typeface="Arial"/>
              </a:defRPr>
            </a:lvl3pPr>
            <a:lvl4pPr>
              <a:defRPr sz="5400" b="1">
                <a:solidFill>
                  <a:srgbClr val="FFFFFF"/>
                </a:solidFill>
                <a:latin typeface="Arial"/>
                <a:ea typeface="Arial"/>
                <a:cs typeface="Arial"/>
              </a:defRPr>
            </a:lvl4pPr>
            <a:lvl5pPr>
              <a:defRPr sz="5400" b="1">
                <a:solidFill>
                  <a:srgbClr val="FFFFFF"/>
                </a:solidFill>
                <a:latin typeface="Arial"/>
                <a:ea typeface="Arial"/>
                <a:cs typeface="Arial"/>
              </a:defRPr>
            </a:lvl5pPr>
            <a:lvl6pPr>
              <a:defRPr sz="5400" b="1">
                <a:solidFill>
                  <a:srgbClr val="FFFFFF"/>
                </a:solidFill>
                <a:latin typeface="Arial"/>
                <a:ea typeface="Arial"/>
                <a:cs typeface="Arial"/>
              </a:defRPr>
            </a:lvl6pPr>
            <a:lvl7pPr>
              <a:defRPr sz="5400" b="1">
                <a:solidFill>
                  <a:srgbClr val="FFFFFF"/>
                </a:solidFill>
                <a:latin typeface="Arial"/>
                <a:ea typeface="Arial"/>
                <a:cs typeface="Arial"/>
              </a:defRPr>
            </a:lvl7pPr>
            <a:lvl8pPr>
              <a:defRPr sz="5400" b="1">
                <a:solidFill>
                  <a:srgbClr val="FFFFFF"/>
                </a:solidFill>
                <a:latin typeface="Arial"/>
                <a:ea typeface="Arial"/>
                <a:cs typeface="Arial"/>
              </a:defRPr>
            </a:lvl8pPr>
            <a:lvl9pPr>
              <a:defRPr sz="5400" b="1">
                <a:solidFill>
                  <a:srgbClr val="FFFFFF"/>
                </a:solidFill>
                <a:latin typeface="Arial"/>
                <a:ea typeface="Arial"/>
                <a:cs typeface="Arial"/>
              </a:defRPr>
            </a:lvl9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Catan under a</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CPU budget</a:t>
            </a:r>
          </a:p>
        </p:txBody>
      </p:sp>
      <p:sp>
        <p:nvSpPr>
          <p:cNvPr id="3" name="subtitle">
            <a:extLst xmlns:a="http://schemas.openxmlformats.org/drawingml/2006/main">
              <a:ext uri="{FF2B5EF4-FFF2-40B4-BE49-F238E27FC236}">
                <a16:creationId xmlns:a16="http://schemas.microsoft.com/office/drawing/2014/main" id="{CEADF510-BB03-4745-BD8B-F6BA5486AAC3}"/>
              </a:ext>
            </a:extLst>
          </p:cNvPr>
          <p:cNvSpPr>
            <a:spLocks xmlns:a="http://schemas.openxmlformats.org/drawingml/2006/main" noGrp="1"/>
          </p:cNvSpPr>
          <p:nvPr/>
        </p:nvSpPr>
        <p:spPr>
          <a:xfrm xmlns:a="http://schemas.openxmlformats.org/drawingml/2006/main">
            <a:off x="723900" y="342900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DAE7EC"/>
                </a:solidFill>
                <a:latin typeface="Arial"/>
                <a:ea typeface="Arial"/>
                <a:cs typeface="Arial"/>
              </a:defRPr>
            </a:defPPr>
            <a:lvl1pPr>
              <a:defRPr sz="2250" b="0">
                <a:solidFill>
                  <a:srgbClr val="DAE7EC"/>
                </a:solidFill>
                <a:latin typeface="Arial"/>
                <a:ea typeface="Arial"/>
                <a:cs typeface="Arial"/>
              </a:defRPr>
            </a:lvl1pPr>
            <a:lvl2pPr>
              <a:defRPr sz="2250" b="0">
                <a:solidFill>
                  <a:srgbClr val="DAE7EC"/>
                </a:solidFill>
                <a:latin typeface="Arial"/>
                <a:ea typeface="Arial"/>
                <a:cs typeface="Arial"/>
              </a:defRPr>
            </a:lvl2pPr>
            <a:lvl3pPr>
              <a:defRPr sz="2250" b="0">
                <a:solidFill>
                  <a:srgbClr val="DAE7EC"/>
                </a:solidFill>
                <a:latin typeface="Arial"/>
                <a:ea typeface="Arial"/>
                <a:cs typeface="Arial"/>
              </a:defRPr>
            </a:lvl3pPr>
            <a:lvl4pPr>
              <a:defRPr sz="2250" b="0">
                <a:solidFill>
                  <a:srgbClr val="DAE7EC"/>
                </a:solidFill>
                <a:latin typeface="Arial"/>
                <a:ea typeface="Arial"/>
                <a:cs typeface="Arial"/>
              </a:defRPr>
            </a:lvl4pPr>
            <a:lvl5pPr>
              <a:defRPr sz="2250" b="0">
                <a:solidFill>
                  <a:srgbClr val="DAE7EC"/>
                </a:solidFill>
                <a:latin typeface="Arial"/>
                <a:ea typeface="Arial"/>
                <a:cs typeface="Arial"/>
              </a:defRPr>
            </a:lvl5pPr>
            <a:lvl6pPr>
              <a:defRPr sz="2250" b="0">
                <a:solidFill>
                  <a:srgbClr val="DAE7EC"/>
                </a:solidFill>
                <a:latin typeface="Arial"/>
                <a:ea typeface="Arial"/>
                <a:cs typeface="Arial"/>
              </a:defRPr>
            </a:lvl6pPr>
            <a:lvl7pPr>
              <a:defRPr sz="2250" b="0">
                <a:solidFill>
                  <a:srgbClr val="DAE7EC"/>
                </a:solidFill>
                <a:latin typeface="Arial"/>
                <a:ea typeface="Arial"/>
                <a:cs typeface="Arial"/>
              </a:defRPr>
            </a:lvl7pPr>
            <a:lvl8pPr>
              <a:defRPr sz="2250" b="0">
                <a:solidFill>
                  <a:srgbClr val="DAE7EC"/>
                </a:solidFill>
                <a:latin typeface="Arial"/>
                <a:ea typeface="Arial"/>
                <a:cs typeface="Arial"/>
              </a:defRPr>
            </a:lvl8pPr>
            <a:lvl9pPr>
              <a:defRPr sz="2250" b="0">
                <a:solidFill>
                  <a:srgbClr val="DAE7EC"/>
                </a:solidFill>
                <a:latin typeface="Arial"/>
                <a:ea typeface="Arial"/>
                <a:cs typeface="Arial"/>
              </a:defRPr>
            </a:lvl9pPr>
          </a:lstStyle>
          <a:p xmlns:a="http://schemas.openxmlformats.org/drawingml/2006/main">
            <a:pPr>
              <a:defRPr sz="2250" b="0">
                <a:solidFill>
                  <a:srgbClr val="DAE7EC"/>
                </a:solidFill>
                <a:latin typeface="Arial"/>
                <a:ea typeface="Arial"/>
                <a:cs typeface="Arial"/>
              </a:defRPr>
            </a:pPr>
            <a:r>
              <a:rPr sz="2250" b="0">
                <a:solidFill>
                  <a:srgbClr val="DAE7EC"/>
                </a:solidFill>
                <a:latin typeface="Arial"/>
                <a:ea typeface="Arial"/>
                <a:cs typeface="Arial"/>
              </a:rPr>
              <a:t>Resource-aware search with a compact learned value model</a:t>
            </a:r>
          </a:p>
        </p:txBody>
      </p:sp>
      <p:sp>
        <p:nvSpPr>
          <p:cNvPr id="4" name="metric">
            <a:extLst xmlns:a="http://schemas.openxmlformats.org/drawingml/2006/main">
              <a:ext uri="{FF2B5EF4-FFF2-40B4-BE49-F238E27FC236}">
                <a16:creationId xmlns:a16="http://schemas.microsoft.com/office/drawing/2014/main" id="{B82DBFB4-D978-44F5-9C32-E4530A480B5D}"/>
              </a:ext>
            </a:extLst>
          </p:cNvPr>
          <p:cNvSpPr>
            <a:spLocks xmlns:a="http://schemas.openxmlformats.org/drawingml/2006/main" noGrp="1"/>
          </p:cNvSpPr>
          <p:nvPr/>
        </p:nvSpPr>
        <p:spPr>
          <a:xfrm xmlns:a="http://schemas.openxmlformats.org/drawingml/2006/main">
            <a:off x="685800" y="4533900"/>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FFFFF"/>
                </a:solidFill>
                <a:latin typeface="Arial"/>
                <a:ea typeface="Arial"/>
                <a:cs typeface="Arial"/>
              </a:defRPr>
            </a:defPPr>
            <a:lvl1pPr>
              <a:defRPr sz="6600" b="1">
                <a:solidFill>
                  <a:srgbClr val="FFFFFF"/>
                </a:solidFill>
                <a:latin typeface="Arial"/>
                <a:ea typeface="Arial"/>
                <a:cs typeface="Arial"/>
              </a:defRPr>
            </a:lvl1pPr>
            <a:lvl2pPr>
              <a:defRPr sz="6600" b="1">
                <a:solidFill>
                  <a:srgbClr val="FFFFFF"/>
                </a:solidFill>
                <a:latin typeface="Arial"/>
                <a:ea typeface="Arial"/>
                <a:cs typeface="Arial"/>
              </a:defRPr>
            </a:lvl2pPr>
            <a:lvl3pPr>
              <a:defRPr sz="6600" b="1">
                <a:solidFill>
                  <a:srgbClr val="FFFFFF"/>
                </a:solidFill>
                <a:latin typeface="Arial"/>
                <a:ea typeface="Arial"/>
                <a:cs typeface="Arial"/>
              </a:defRPr>
            </a:lvl3pPr>
            <a:lvl4pPr>
              <a:defRPr sz="6600" b="1">
                <a:solidFill>
                  <a:srgbClr val="FFFFFF"/>
                </a:solidFill>
                <a:latin typeface="Arial"/>
                <a:ea typeface="Arial"/>
                <a:cs typeface="Arial"/>
              </a:defRPr>
            </a:lvl4pPr>
            <a:lvl5pPr>
              <a:defRPr sz="6600" b="1">
                <a:solidFill>
                  <a:srgbClr val="FFFFFF"/>
                </a:solidFill>
                <a:latin typeface="Arial"/>
                <a:ea typeface="Arial"/>
                <a:cs typeface="Arial"/>
              </a:defRPr>
            </a:lvl5pPr>
            <a:lvl6pPr>
              <a:defRPr sz="6600" b="1">
                <a:solidFill>
                  <a:srgbClr val="FFFFFF"/>
                </a:solidFill>
                <a:latin typeface="Arial"/>
                <a:ea typeface="Arial"/>
                <a:cs typeface="Arial"/>
              </a:defRPr>
            </a:lvl6pPr>
            <a:lvl7pPr>
              <a:defRPr sz="6600" b="1">
                <a:solidFill>
                  <a:srgbClr val="FFFFFF"/>
                </a:solidFill>
                <a:latin typeface="Arial"/>
                <a:ea typeface="Arial"/>
                <a:cs typeface="Arial"/>
              </a:defRPr>
            </a:lvl7pPr>
            <a:lvl8pPr>
              <a:defRPr sz="6600" b="1">
                <a:solidFill>
                  <a:srgbClr val="FFFFFF"/>
                </a:solidFill>
                <a:latin typeface="Arial"/>
                <a:ea typeface="Arial"/>
                <a:cs typeface="Arial"/>
              </a:defRPr>
            </a:lvl8pPr>
            <a:lvl9pPr>
              <a:defRPr sz="6600" b="1">
                <a:solidFill>
                  <a:srgbClr val="FFFFFF"/>
                </a:solidFill>
                <a:latin typeface="Arial"/>
                <a:ea typeface="Arial"/>
                <a:cs typeface="Arial"/>
              </a:defRPr>
            </a:lvl9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79.7%</a:t>
            </a:r>
          </a:p>
        </p:txBody>
      </p:sp>
      <p:sp>
        <p:nvSpPr>
          <p:cNvPr id="5" name="metric-label">
            <a:extLst xmlns:a="http://schemas.openxmlformats.org/drawingml/2006/main">
              <a:ext uri="{FF2B5EF4-FFF2-40B4-BE49-F238E27FC236}">
                <a16:creationId xmlns:a16="http://schemas.microsoft.com/office/drawing/2014/main" id="{0121F650-1320-40C8-ADB5-2D8FBFD3EEE3}"/>
              </a:ext>
            </a:extLst>
          </p:cNvPr>
          <p:cNvSpPr>
            <a:spLocks xmlns:a="http://schemas.openxmlformats.org/drawingml/2006/main" noGrp="1"/>
          </p:cNvSpPr>
          <p:nvPr/>
        </p:nvSpPr>
        <p:spPr>
          <a:xfrm xmlns:a="http://schemas.openxmlformats.org/drawingml/2006/main">
            <a:off x="4762500" y="474345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DAE7EC"/>
                </a:solidFill>
                <a:latin typeface="Arial"/>
                <a:ea typeface="Arial"/>
                <a:cs typeface="Arial"/>
              </a:defRPr>
            </a:defPPr>
            <a:lvl1pPr>
              <a:defRPr sz="2100" b="0">
                <a:solidFill>
                  <a:srgbClr val="DAE7EC"/>
                </a:solidFill>
                <a:latin typeface="Arial"/>
                <a:ea typeface="Arial"/>
                <a:cs typeface="Arial"/>
              </a:defRPr>
            </a:lvl1pPr>
            <a:lvl2pPr>
              <a:defRPr sz="2100" b="0">
                <a:solidFill>
                  <a:srgbClr val="DAE7EC"/>
                </a:solidFill>
                <a:latin typeface="Arial"/>
                <a:ea typeface="Arial"/>
                <a:cs typeface="Arial"/>
              </a:defRPr>
            </a:lvl2pPr>
            <a:lvl3pPr>
              <a:defRPr sz="2100" b="0">
                <a:solidFill>
                  <a:srgbClr val="DAE7EC"/>
                </a:solidFill>
                <a:latin typeface="Arial"/>
                <a:ea typeface="Arial"/>
                <a:cs typeface="Arial"/>
              </a:defRPr>
            </a:lvl3pPr>
            <a:lvl4pPr>
              <a:defRPr sz="2100" b="0">
                <a:solidFill>
                  <a:srgbClr val="DAE7EC"/>
                </a:solidFill>
                <a:latin typeface="Arial"/>
                <a:ea typeface="Arial"/>
                <a:cs typeface="Arial"/>
              </a:defRPr>
            </a:lvl4pPr>
            <a:lvl5pPr>
              <a:defRPr sz="2100" b="0">
                <a:solidFill>
                  <a:srgbClr val="DAE7EC"/>
                </a:solidFill>
                <a:latin typeface="Arial"/>
                <a:ea typeface="Arial"/>
                <a:cs typeface="Arial"/>
              </a:defRPr>
            </a:lvl5pPr>
            <a:lvl6pPr>
              <a:defRPr sz="2100" b="0">
                <a:solidFill>
                  <a:srgbClr val="DAE7EC"/>
                </a:solidFill>
                <a:latin typeface="Arial"/>
                <a:ea typeface="Arial"/>
                <a:cs typeface="Arial"/>
              </a:defRPr>
            </a:lvl6pPr>
            <a:lvl7pPr>
              <a:defRPr sz="2100" b="0">
                <a:solidFill>
                  <a:srgbClr val="DAE7EC"/>
                </a:solidFill>
                <a:latin typeface="Arial"/>
                <a:ea typeface="Arial"/>
                <a:cs typeface="Arial"/>
              </a:defRPr>
            </a:lvl7pPr>
            <a:lvl8pPr>
              <a:defRPr sz="2100" b="0">
                <a:solidFill>
                  <a:srgbClr val="DAE7EC"/>
                </a:solidFill>
                <a:latin typeface="Arial"/>
                <a:ea typeface="Arial"/>
                <a:cs typeface="Arial"/>
              </a:defRPr>
            </a:lvl8pPr>
            <a:lvl9pPr>
              <a:defRPr sz="2100" b="0">
                <a:solidFill>
                  <a:srgbClr val="DAE7EC"/>
                </a:solidFill>
                <a:latin typeface="Arial"/>
                <a:ea typeface="Arial"/>
                <a:cs typeface="Arial"/>
              </a:defRPr>
            </a:lvl9pPr>
          </a:lstStyle>
          <a:p xmlns:a="http://schemas.openxmlformats.org/drawingml/2006/main">
            <a:pPr>
              <a:defRPr sz="2100" b="0">
                <a:solidFill>
                  <a:srgbClr val="DAE7EC"/>
                </a:solidFill>
                <a:latin typeface="Arial"/>
                <a:ea typeface="Arial"/>
                <a:cs typeface="Arial"/>
              </a:defRPr>
            </a:pPr>
            <a:r>
              <a:rPr sz="2100" b="0">
                <a:solidFill>
                  <a:srgbClr val="DAE7EC"/>
                </a:solidFill>
                <a:latin typeface="Arial"/>
                <a:ea typeface="Arial"/>
                <a:cs typeface="Arial"/>
              </a:rPr>
              <a:t>Local win rate against F</a:t>
            </a:r>
          </a:p>
          <a:p xmlns:a="http://schemas.openxmlformats.org/drawingml/2006/main">
            <a:pPr>
              <a:defRPr sz="2100" b="0">
                <a:solidFill>
                  <a:srgbClr val="DAE7EC"/>
                </a:solidFill>
                <a:latin typeface="Arial"/>
                <a:ea typeface="Arial"/>
                <a:cs typeface="Arial"/>
              </a:defRPr>
            </a:pPr>
            <a:r>
              <a:rPr sz="2100" b="0">
                <a:solidFill>
                  <a:srgbClr val="DAE7EC"/>
                </a:solidFill>
                <a:latin typeface="Arial"/>
                <a:ea typeface="Arial"/>
                <a:cs typeface="Arial"/>
              </a:rPr>
              <a:t>797 wins in 1,000 fresh-board games</a:t>
            </a:r>
          </a:p>
        </p:txBody>
      </p:sp>
      <p:sp>
        <p:nvSpPr>
          <p:cNvPr id="6" name="date">
            <a:extLst xmlns:a="http://schemas.openxmlformats.org/drawingml/2006/main">
              <a:ext uri="{FF2B5EF4-FFF2-40B4-BE49-F238E27FC236}">
                <a16:creationId xmlns:a16="http://schemas.microsoft.com/office/drawing/2014/main" id="{795C8F80-250C-4A57-95CC-5D618F2ED8E1}"/>
              </a:ext>
            </a:extLst>
          </p:cNvPr>
          <p:cNvSpPr>
            <a:spLocks xmlns:a="http://schemas.openxmlformats.org/drawingml/2006/main" noGrp="1"/>
          </p:cNvSpPr>
          <p:nvPr/>
        </p:nvSpPr>
        <p:spPr>
          <a:xfrm xmlns:a="http://schemas.openxmlformats.org/drawingml/2006/main">
            <a:off x="723900" y="62293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DAE7EC"/>
                </a:solidFill>
                <a:latin typeface="Arial"/>
                <a:ea typeface="Arial"/>
                <a:cs typeface="Arial"/>
              </a:defRPr>
            </a:defPPr>
            <a:lvl1pPr>
              <a:defRPr sz="1725" b="0">
                <a:solidFill>
                  <a:srgbClr val="DAE7EC"/>
                </a:solidFill>
                <a:latin typeface="Arial"/>
                <a:ea typeface="Arial"/>
                <a:cs typeface="Arial"/>
              </a:defRPr>
            </a:lvl1pPr>
            <a:lvl2pPr>
              <a:defRPr sz="1725" b="0">
                <a:solidFill>
                  <a:srgbClr val="DAE7EC"/>
                </a:solidFill>
                <a:latin typeface="Arial"/>
                <a:ea typeface="Arial"/>
                <a:cs typeface="Arial"/>
              </a:defRPr>
            </a:lvl2pPr>
            <a:lvl3pPr>
              <a:defRPr sz="1725" b="0">
                <a:solidFill>
                  <a:srgbClr val="DAE7EC"/>
                </a:solidFill>
                <a:latin typeface="Arial"/>
                <a:ea typeface="Arial"/>
                <a:cs typeface="Arial"/>
              </a:defRPr>
            </a:lvl3pPr>
            <a:lvl4pPr>
              <a:defRPr sz="1725" b="0">
                <a:solidFill>
                  <a:srgbClr val="DAE7EC"/>
                </a:solidFill>
                <a:latin typeface="Arial"/>
                <a:ea typeface="Arial"/>
                <a:cs typeface="Arial"/>
              </a:defRPr>
            </a:lvl4pPr>
            <a:lvl5pPr>
              <a:defRPr sz="1725" b="0">
                <a:solidFill>
                  <a:srgbClr val="DAE7EC"/>
                </a:solidFill>
                <a:latin typeface="Arial"/>
                <a:ea typeface="Arial"/>
                <a:cs typeface="Arial"/>
              </a:defRPr>
            </a:lvl5pPr>
            <a:lvl6pPr>
              <a:defRPr sz="1725" b="0">
                <a:solidFill>
                  <a:srgbClr val="DAE7EC"/>
                </a:solidFill>
                <a:latin typeface="Arial"/>
                <a:ea typeface="Arial"/>
                <a:cs typeface="Arial"/>
              </a:defRPr>
            </a:lvl6pPr>
            <a:lvl7pPr>
              <a:defRPr sz="1725" b="0">
                <a:solidFill>
                  <a:srgbClr val="DAE7EC"/>
                </a:solidFill>
                <a:latin typeface="Arial"/>
                <a:ea typeface="Arial"/>
                <a:cs typeface="Arial"/>
              </a:defRPr>
            </a:lvl7pPr>
            <a:lvl8pPr>
              <a:defRPr sz="1725" b="0">
                <a:solidFill>
                  <a:srgbClr val="DAE7EC"/>
                </a:solidFill>
                <a:latin typeface="Arial"/>
                <a:ea typeface="Arial"/>
                <a:cs typeface="Arial"/>
              </a:defRPr>
            </a:lvl8pPr>
            <a:lvl9pPr>
              <a:defRPr sz="1725" b="0">
                <a:solidFill>
                  <a:srgbClr val="DAE7EC"/>
                </a:solidFill>
                <a:latin typeface="Arial"/>
                <a:ea typeface="Arial"/>
                <a:cs typeface="Arial"/>
              </a:defRPr>
            </a:lvl9pPr>
          </a:lstStyle>
          <a:p xmlns:a="http://schemas.openxmlformats.org/drawingml/2006/main">
            <a:pPr>
              <a:defRPr sz="1725" b="0">
                <a:solidFill>
                  <a:srgbClr val="DAE7EC"/>
                </a:solidFill>
                <a:latin typeface="Arial"/>
                <a:ea typeface="Arial"/>
                <a:cs typeface="Arial"/>
              </a:defRPr>
            </a:pPr>
            <a:r>
              <a:rPr sz="1725" b="0">
                <a:solidFill>
                  <a:srgbClr val="DAE7EC"/>
                </a:solidFill>
                <a:latin typeface="Arial"/>
                <a:ea typeface="Arial"/>
                <a:cs typeface="Arial"/>
              </a:rPr>
              <a:t>17 October 2026</a:t>
            </a:r>
          </a:p>
        </p:txBody>
      </p:sp>
    </p:spTree>
    <p:extLst>
      <p:ext uri="{BB962C8B-B14F-4D97-AF65-F5344CB8AC3E}">
        <p14:creationId xmlns:p14="http://schemas.microsoft.com/office/powerpoint/2010/main" val="6377860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E371114C-CED9-4CE7-AC18-658385BB74BF}"/>
              </a:ext>
            </a:extLst>
          </p:cNvPr>
          <p:cNvSpPr>
            <a:spLocks xmlns:a="http://schemas.openxmlformats.org/drawingml/2006/main" noGrp="1"/>
          </p:cNvSpPr>
          <p:nvPr/>
        </p:nvSpPr>
        <p:spPr>
          <a:xfrm xmlns:a="http://schemas.openxmlformats.org/drawingml/2006/main">
            <a:off x="685800" y="5048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B36"/>
                </a:solidFill>
                <a:latin typeface="Arial"/>
                <a:ea typeface="Arial"/>
                <a:cs typeface="Arial"/>
              </a:defRPr>
            </a:defPPr>
            <a:lvl1pPr>
              <a:defRPr sz="3450" b="1">
                <a:solidFill>
                  <a:srgbClr val="172B36"/>
                </a:solidFill>
                <a:latin typeface="Arial"/>
                <a:ea typeface="Arial"/>
                <a:cs typeface="Arial"/>
              </a:defRPr>
            </a:lvl1pPr>
            <a:lvl2pPr>
              <a:defRPr sz="3450" b="1">
                <a:solidFill>
                  <a:srgbClr val="172B36"/>
                </a:solidFill>
                <a:latin typeface="Arial"/>
                <a:ea typeface="Arial"/>
                <a:cs typeface="Arial"/>
              </a:defRPr>
            </a:lvl2pPr>
            <a:lvl3pPr>
              <a:defRPr sz="3450" b="1">
                <a:solidFill>
                  <a:srgbClr val="172B36"/>
                </a:solidFill>
                <a:latin typeface="Arial"/>
                <a:ea typeface="Arial"/>
                <a:cs typeface="Arial"/>
              </a:defRPr>
            </a:lvl3pPr>
            <a:lvl4pPr>
              <a:defRPr sz="3450" b="1">
                <a:solidFill>
                  <a:srgbClr val="172B36"/>
                </a:solidFill>
                <a:latin typeface="Arial"/>
                <a:ea typeface="Arial"/>
                <a:cs typeface="Arial"/>
              </a:defRPr>
            </a:lvl4pPr>
            <a:lvl5pPr>
              <a:defRPr sz="3450" b="1">
                <a:solidFill>
                  <a:srgbClr val="172B36"/>
                </a:solidFill>
                <a:latin typeface="Arial"/>
                <a:ea typeface="Arial"/>
                <a:cs typeface="Arial"/>
              </a:defRPr>
            </a:lvl5pPr>
            <a:lvl6pPr>
              <a:defRPr sz="3450" b="1">
                <a:solidFill>
                  <a:srgbClr val="172B36"/>
                </a:solidFill>
                <a:latin typeface="Arial"/>
                <a:ea typeface="Arial"/>
                <a:cs typeface="Arial"/>
              </a:defRPr>
            </a:lvl6pPr>
            <a:lvl7pPr>
              <a:defRPr sz="3450" b="1">
                <a:solidFill>
                  <a:srgbClr val="172B36"/>
                </a:solidFill>
                <a:latin typeface="Arial"/>
                <a:ea typeface="Arial"/>
                <a:cs typeface="Arial"/>
              </a:defRPr>
            </a:lvl7pPr>
            <a:lvl8pPr>
              <a:defRPr sz="3450" b="1">
                <a:solidFill>
                  <a:srgbClr val="172B36"/>
                </a:solidFill>
                <a:latin typeface="Arial"/>
                <a:ea typeface="Arial"/>
                <a:cs typeface="Arial"/>
              </a:defRPr>
            </a:lvl8pPr>
            <a:lvl9pPr>
              <a:defRPr sz="3450" b="1">
                <a:solidFill>
                  <a:srgbClr val="172B36"/>
                </a:solidFill>
                <a:latin typeface="Arial"/>
                <a:ea typeface="Arial"/>
                <a:cs typeface="Arial"/>
              </a:defRPr>
            </a:lvl9pPr>
          </a:lstStyle>
          <a:p xmlns:a="http://schemas.openxmlformats.org/drawingml/2006/main">
            <a:pPr>
              <a:defRPr sz="3450" b="1">
                <a:solidFill>
                  <a:srgbClr val="172B36"/>
                </a:solidFill>
                <a:latin typeface="Arial"/>
                <a:ea typeface="Arial"/>
                <a:cs typeface="Arial"/>
              </a:defRPr>
            </a:pPr>
            <a:r>
              <a:rPr sz="3450" b="1">
                <a:solidFill>
                  <a:srgbClr val="172B36"/>
                </a:solidFill>
                <a:latin typeface="Arial"/>
                <a:ea typeface="Arial"/>
                <a:cs typeface="Arial"/>
              </a:rPr>
              <a:t>Decision method</a:t>
            </a:r>
          </a:p>
        </p:txBody>
      </p:sp>
      <p:sp>
        <p:nvSpPr>
          <p:cNvPr id="2" name="page-number">
            <a:extLst xmlns:a="http://schemas.openxmlformats.org/drawingml/2006/main">
              <a:ext uri="{FF2B5EF4-FFF2-40B4-BE49-F238E27FC236}">
                <a16:creationId xmlns:a16="http://schemas.microsoft.com/office/drawing/2014/main" id="{7A7C02BE-1BBA-4D47-9F58-1B4983076FF4}"/>
              </a:ext>
            </a:extLst>
          </p:cNvPr>
          <p:cNvSpPr>
            <a:spLocks xmlns:a="http://schemas.openxmlformats.org/drawingml/2006/main" noGrp="1"/>
          </p:cNvSpPr>
          <p:nvPr/>
        </p:nvSpPr>
        <p:spPr>
          <a:xfrm xmlns:a="http://schemas.openxmlformats.org/drawingml/2006/main">
            <a:off x="11049000" y="63246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36E"/>
                </a:solidFill>
                <a:latin typeface="Arial"/>
                <a:ea typeface="Arial"/>
                <a:cs typeface="Arial"/>
              </a:defRPr>
            </a:defPPr>
            <a:lvl1pPr>
              <a:defRPr sz="1725" b="0">
                <a:solidFill>
                  <a:srgbClr val="52636E"/>
                </a:solidFill>
                <a:latin typeface="Arial"/>
                <a:ea typeface="Arial"/>
                <a:cs typeface="Arial"/>
              </a:defRPr>
            </a:lvl1pPr>
            <a:lvl2pPr>
              <a:defRPr sz="1725" b="0">
                <a:solidFill>
                  <a:srgbClr val="52636E"/>
                </a:solidFill>
                <a:latin typeface="Arial"/>
                <a:ea typeface="Arial"/>
                <a:cs typeface="Arial"/>
              </a:defRPr>
            </a:lvl2pPr>
            <a:lvl3pPr>
              <a:defRPr sz="1725" b="0">
                <a:solidFill>
                  <a:srgbClr val="52636E"/>
                </a:solidFill>
                <a:latin typeface="Arial"/>
                <a:ea typeface="Arial"/>
                <a:cs typeface="Arial"/>
              </a:defRPr>
            </a:lvl3pPr>
            <a:lvl4pPr>
              <a:defRPr sz="1725" b="0">
                <a:solidFill>
                  <a:srgbClr val="52636E"/>
                </a:solidFill>
                <a:latin typeface="Arial"/>
                <a:ea typeface="Arial"/>
                <a:cs typeface="Arial"/>
              </a:defRPr>
            </a:lvl4pPr>
            <a:lvl5pPr>
              <a:defRPr sz="1725" b="0">
                <a:solidFill>
                  <a:srgbClr val="52636E"/>
                </a:solidFill>
                <a:latin typeface="Arial"/>
                <a:ea typeface="Arial"/>
                <a:cs typeface="Arial"/>
              </a:defRPr>
            </a:lvl5pPr>
            <a:lvl6pPr>
              <a:defRPr sz="1725" b="0">
                <a:solidFill>
                  <a:srgbClr val="52636E"/>
                </a:solidFill>
                <a:latin typeface="Arial"/>
                <a:ea typeface="Arial"/>
                <a:cs typeface="Arial"/>
              </a:defRPr>
            </a:lvl6pPr>
            <a:lvl7pPr>
              <a:defRPr sz="1725" b="0">
                <a:solidFill>
                  <a:srgbClr val="52636E"/>
                </a:solidFill>
                <a:latin typeface="Arial"/>
                <a:ea typeface="Arial"/>
                <a:cs typeface="Arial"/>
              </a:defRPr>
            </a:lvl7pPr>
            <a:lvl8pPr>
              <a:defRPr sz="1725" b="0">
                <a:solidFill>
                  <a:srgbClr val="52636E"/>
                </a:solidFill>
                <a:latin typeface="Arial"/>
                <a:ea typeface="Arial"/>
                <a:cs typeface="Arial"/>
              </a:defRPr>
            </a:lvl8pPr>
            <a:lvl9pPr>
              <a:defRPr sz="1725" b="0">
                <a:solidFill>
                  <a:srgbClr val="52636E"/>
                </a:solidFill>
                <a:latin typeface="Arial"/>
                <a:ea typeface="Arial"/>
                <a:cs typeface="Arial"/>
              </a:defRPr>
            </a:lvl9pPr>
          </a:lstStyle>
          <a:p xmlns:a="http://schemas.openxmlformats.org/drawingml/2006/main">
            <a:pPr>
              <a:defRPr sz="1725" b="0">
                <a:solidFill>
                  <a:srgbClr val="52636E"/>
                </a:solidFill>
                <a:latin typeface="Arial"/>
                <a:ea typeface="Arial"/>
                <a:cs typeface="Arial"/>
              </a:defRPr>
            </a:pPr>
            <a:r>
              <a:rPr sz="1725" b="0">
                <a:solidFill>
                  <a:srgbClr val="52636E"/>
                </a:solidFill>
                <a:latin typeface="Arial"/>
                <a:ea typeface="Arial"/>
                <a:cs typeface="Arial"/>
              </a:rPr>
              <a:t>2</a:t>
            </a:r>
          </a:p>
        </p:txBody>
      </p:sp>
      <p:sp>
        <p:nvSpPr>
          <p:cNvPr id="3" name="constraint">
            <a:extLst xmlns:a="http://schemas.openxmlformats.org/drawingml/2006/main">
              <a:ext uri="{FF2B5EF4-FFF2-40B4-BE49-F238E27FC236}">
                <a16:creationId xmlns:a16="http://schemas.microsoft.com/office/drawing/2014/main" id="{68AFE25A-7F67-45AB-9441-7782E55848E9}"/>
              </a:ext>
            </a:extLst>
          </p:cNvPr>
          <p:cNvSpPr>
            <a:spLocks xmlns:a="http://schemas.openxmlformats.org/drawingml/2006/main" noGrp="1"/>
          </p:cNvSpPr>
          <p:nvPr/>
        </p:nvSpPr>
        <p:spPr>
          <a:xfrm xmlns:a="http://schemas.openxmlformats.org/drawingml/2006/main">
            <a:off x="685800" y="14954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36E"/>
                </a:solidFill>
                <a:latin typeface="Arial"/>
                <a:ea typeface="Arial"/>
                <a:cs typeface="Arial"/>
              </a:defRPr>
            </a:defPPr>
            <a:lvl1pPr>
              <a:defRPr sz="2025" b="0">
                <a:solidFill>
                  <a:srgbClr val="52636E"/>
                </a:solidFill>
                <a:latin typeface="Arial"/>
                <a:ea typeface="Arial"/>
                <a:cs typeface="Arial"/>
              </a:defRPr>
            </a:lvl1pPr>
            <a:lvl2pPr>
              <a:defRPr sz="2025" b="0">
                <a:solidFill>
                  <a:srgbClr val="52636E"/>
                </a:solidFill>
                <a:latin typeface="Arial"/>
                <a:ea typeface="Arial"/>
                <a:cs typeface="Arial"/>
              </a:defRPr>
            </a:lvl2pPr>
            <a:lvl3pPr>
              <a:defRPr sz="2025" b="0">
                <a:solidFill>
                  <a:srgbClr val="52636E"/>
                </a:solidFill>
                <a:latin typeface="Arial"/>
                <a:ea typeface="Arial"/>
                <a:cs typeface="Arial"/>
              </a:defRPr>
            </a:lvl3pPr>
            <a:lvl4pPr>
              <a:defRPr sz="2025" b="0">
                <a:solidFill>
                  <a:srgbClr val="52636E"/>
                </a:solidFill>
                <a:latin typeface="Arial"/>
                <a:ea typeface="Arial"/>
                <a:cs typeface="Arial"/>
              </a:defRPr>
            </a:lvl4pPr>
            <a:lvl5pPr>
              <a:defRPr sz="2025" b="0">
                <a:solidFill>
                  <a:srgbClr val="52636E"/>
                </a:solidFill>
                <a:latin typeface="Arial"/>
                <a:ea typeface="Arial"/>
                <a:cs typeface="Arial"/>
              </a:defRPr>
            </a:lvl5pPr>
            <a:lvl6pPr>
              <a:defRPr sz="2025" b="0">
                <a:solidFill>
                  <a:srgbClr val="52636E"/>
                </a:solidFill>
                <a:latin typeface="Arial"/>
                <a:ea typeface="Arial"/>
                <a:cs typeface="Arial"/>
              </a:defRPr>
            </a:lvl6pPr>
            <a:lvl7pPr>
              <a:defRPr sz="2025" b="0">
                <a:solidFill>
                  <a:srgbClr val="52636E"/>
                </a:solidFill>
                <a:latin typeface="Arial"/>
                <a:ea typeface="Arial"/>
                <a:cs typeface="Arial"/>
              </a:defRPr>
            </a:lvl7pPr>
            <a:lvl8pPr>
              <a:defRPr sz="2025" b="0">
                <a:solidFill>
                  <a:srgbClr val="52636E"/>
                </a:solidFill>
                <a:latin typeface="Arial"/>
                <a:ea typeface="Arial"/>
                <a:cs typeface="Arial"/>
              </a:defRPr>
            </a:lvl8pPr>
            <a:lvl9pPr>
              <a:defRPr sz="2025" b="0">
                <a:solidFill>
                  <a:srgbClr val="52636E"/>
                </a:solidFill>
                <a:latin typeface="Arial"/>
                <a:ea typeface="Arial"/>
                <a:cs typeface="Arial"/>
              </a:defRPr>
            </a:lvl9pPr>
          </a:lstStyle>
          <a:p xmlns:a="http://schemas.openxmlformats.org/drawingml/2006/main">
            <a:pPr>
              <a:defRPr sz="2025" b="0">
                <a:solidFill>
                  <a:srgbClr val="52636E"/>
                </a:solidFill>
                <a:latin typeface="Arial"/>
                <a:ea typeface="Arial"/>
                <a:cs typeface="Arial"/>
              </a:defRPr>
            </a:pPr>
            <a:r>
              <a:rPr sz="2025" b="0">
                <a:solidFill>
                  <a:srgbClr val="52636E"/>
                </a:solidFill>
                <a:latin typeface="Arial"/>
                <a:ea typeface="Arial"/>
                <a:cs typeface="Arial"/>
              </a:rPr>
              <a:t>One core. 300 ms initially, then 12.5 ms per decision, capped at 1.5 s.</a:t>
            </a:r>
          </a:p>
        </p:txBody>
      </p:sp>
      <p:sp>
        <p:nvSpPr>
          <p:cNvPr id="4" name="number-0">
            <a:extLst xmlns:a="http://schemas.openxmlformats.org/drawingml/2006/main">
              <a:ext uri="{FF2B5EF4-FFF2-40B4-BE49-F238E27FC236}">
                <a16:creationId xmlns:a16="http://schemas.microsoft.com/office/drawing/2014/main" id="{7D664D59-9477-4431-926E-AB0DA5EDEC6C}"/>
              </a:ext>
            </a:extLst>
          </p:cNvPr>
          <p:cNvSpPr>
            <a:spLocks xmlns:a="http://schemas.openxmlformats.org/drawingml/2006/main" noGrp="1"/>
          </p:cNvSpPr>
          <p:nvPr/>
        </p:nvSpPr>
        <p:spPr>
          <a:xfrm xmlns:a="http://schemas.openxmlformats.org/drawingml/2006/main">
            <a:off x="685800" y="2314575"/>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C7C86"/>
                </a:solidFill>
                <a:latin typeface="Arial"/>
                <a:ea typeface="Arial"/>
                <a:cs typeface="Arial"/>
              </a:defRPr>
            </a:defPPr>
            <a:lvl1pPr>
              <a:defRPr sz="2250" b="1">
                <a:solidFill>
                  <a:srgbClr val="0C7C86"/>
                </a:solidFill>
                <a:latin typeface="Arial"/>
                <a:ea typeface="Arial"/>
                <a:cs typeface="Arial"/>
              </a:defRPr>
            </a:lvl1pPr>
            <a:lvl2pPr>
              <a:defRPr sz="2250" b="1">
                <a:solidFill>
                  <a:srgbClr val="0C7C86"/>
                </a:solidFill>
                <a:latin typeface="Arial"/>
                <a:ea typeface="Arial"/>
                <a:cs typeface="Arial"/>
              </a:defRPr>
            </a:lvl2pPr>
            <a:lvl3pPr>
              <a:defRPr sz="2250" b="1">
                <a:solidFill>
                  <a:srgbClr val="0C7C86"/>
                </a:solidFill>
                <a:latin typeface="Arial"/>
                <a:ea typeface="Arial"/>
                <a:cs typeface="Arial"/>
              </a:defRPr>
            </a:lvl3pPr>
            <a:lvl4pPr>
              <a:defRPr sz="2250" b="1">
                <a:solidFill>
                  <a:srgbClr val="0C7C86"/>
                </a:solidFill>
                <a:latin typeface="Arial"/>
                <a:ea typeface="Arial"/>
                <a:cs typeface="Arial"/>
              </a:defRPr>
            </a:lvl4pPr>
            <a:lvl5pPr>
              <a:defRPr sz="2250" b="1">
                <a:solidFill>
                  <a:srgbClr val="0C7C86"/>
                </a:solidFill>
                <a:latin typeface="Arial"/>
                <a:ea typeface="Arial"/>
                <a:cs typeface="Arial"/>
              </a:defRPr>
            </a:lvl5pPr>
            <a:lvl6pPr>
              <a:defRPr sz="2250" b="1">
                <a:solidFill>
                  <a:srgbClr val="0C7C86"/>
                </a:solidFill>
                <a:latin typeface="Arial"/>
                <a:ea typeface="Arial"/>
                <a:cs typeface="Arial"/>
              </a:defRPr>
            </a:lvl6pPr>
            <a:lvl7pPr>
              <a:defRPr sz="2250" b="1">
                <a:solidFill>
                  <a:srgbClr val="0C7C86"/>
                </a:solidFill>
                <a:latin typeface="Arial"/>
                <a:ea typeface="Arial"/>
                <a:cs typeface="Arial"/>
              </a:defRPr>
            </a:lvl7pPr>
            <a:lvl8pPr>
              <a:defRPr sz="2250" b="1">
                <a:solidFill>
                  <a:srgbClr val="0C7C86"/>
                </a:solidFill>
                <a:latin typeface="Arial"/>
                <a:ea typeface="Arial"/>
                <a:cs typeface="Arial"/>
              </a:defRPr>
            </a:lvl8pPr>
            <a:lvl9pPr>
              <a:defRPr sz="2250" b="1">
                <a:solidFill>
                  <a:srgbClr val="0C7C86"/>
                </a:solidFill>
                <a:latin typeface="Arial"/>
                <a:ea typeface="Arial"/>
                <a:cs typeface="Arial"/>
              </a:defRPr>
            </a:lvl9pPr>
          </a:lstStyle>
          <a:p xmlns:a="http://schemas.openxmlformats.org/drawingml/2006/main">
            <a:pPr>
              <a:defRPr sz="2250" b="1">
                <a:solidFill>
                  <a:srgbClr val="0C7C86"/>
                </a:solidFill>
                <a:latin typeface="Arial"/>
                <a:ea typeface="Arial"/>
                <a:cs typeface="Arial"/>
              </a:defRPr>
            </a:pPr>
            <a:r>
              <a:rPr sz="2250" b="1">
                <a:solidFill>
                  <a:srgbClr val="0C7C86"/>
                </a:solidFill>
                <a:latin typeface="Arial"/>
                <a:ea typeface="Arial"/>
                <a:cs typeface="Arial"/>
              </a:rPr>
              <a:t>01</a:t>
            </a:r>
          </a:p>
        </p:txBody>
      </p:sp>
      <p:sp>
        <p:nvSpPr>
          <p:cNvPr id="5" name="method-0">
            <a:extLst xmlns:a="http://schemas.openxmlformats.org/drawingml/2006/main">
              <a:ext uri="{FF2B5EF4-FFF2-40B4-BE49-F238E27FC236}">
                <a16:creationId xmlns:a16="http://schemas.microsoft.com/office/drawing/2014/main" id="{56A69E3B-264B-441D-8630-B6304CE79588}"/>
              </a:ext>
            </a:extLst>
          </p:cNvPr>
          <p:cNvSpPr>
            <a:spLocks xmlns:a="http://schemas.openxmlformats.org/drawingml/2006/main" noGrp="1"/>
          </p:cNvSpPr>
          <p:nvPr/>
        </p:nvSpPr>
        <p:spPr>
          <a:xfrm xmlns:a="http://schemas.openxmlformats.org/drawingml/2006/main">
            <a:off x="1524000" y="2314575"/>
            <a:ext cx="3571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36"/>
                </a:solidFill>
                <a:latin typeface="Arial"/>
                <a:ea typeface="Arial"/>
                <a:cs typeface="Arial"/>
              </a:defRPr>
            </a:defPPr>
            <a:lvl1pPr>
              <a:defRPr sz="2100" b="1">
                <a:solidFill>
                  <a:srgbClr val="172B36"/>
                </a:solidFill>
                <a:latin typeface="Arial"/>
                <a:ea typeface="Arial"/>
                <a:cs typeface="Arial"/>
              </a:defRPr>
            </a:lvl1pPr>
            <a:lvl2pPr>
              <a:defRPr sz="2100" b="1">
                <a:solidFill>
                  <a:srgbClr val="172B36"/>
                </a:solidFill>
                <a:latin typeface="Arial"/>
                <a:ea typeface="Arial"/>
                <a:cs typeface="Arial"/>
              </a:defRPr>
            </a:lvl2pPr>
            <a:lvl3pPr>
              <a:defRPr sz="2100" b="1">
                <a:solidFill>
                  <a:srgbClr val="172B36"/>
                </a:solidFill>
                <a:latin typeface="Arial"/>
                <a:ea typeface="Arial"/>
                <a:cs typeface="Arial"/>
              </a:defRPr>
            </a:lvl3pPr>
            <a:lvl4pPr>
              <a:defRPr sz="2100" b="1">
                <a:solidFill>
                  <a:srgbClr val="172B36"/>
                </a:solidFill>
                <a:latin typeface="Arial"/>
                <a:ea typeface="Arial"/>
                <a:cs typeface="Arial"/>
              </a:defRPr>
            </a:lvl4pPr>
            <a:lvl5pPr>
              <a:defRPr sz="2100" b="1">
                <a:solidFill>
                  <a:srgbClr val="172B36"/>
                </a:solidFill>
                <a:latin typeface="Arial"/>
                <a:ea typeface="Arial"/>
                <a:cs typeface="Arial"/>
              </a:defRPr>
            </a:lvl5pPr>
            <a:lvl6pPr>
              <a:defRPr sz="2100" b="1">
                <a:solidFill>
                  <a:srgbClr val="172B36"/>
                </a:solidFill>
                <a:latin typeface="Arial"/>
                <a:ea typeface="Arial"/>
                <a:cs typeface="Arial"/>
              </a:defRPr>
            </a:lvl6pPr>
            <a:lvl7pPr>
              <a:defRPr sz="2100" b="1">
                <a:solidFill>
                  <a:srgbClr val="172B36"/>
                </a:solidFill>
                <a:latin typeface="Arial"/>
                <a:ea typeface="Arial"/>
                <a:cs typeface="Arial"/>
              </a:defRPr>
            </a:lvl7pPr>
            <a:lvl8pPr>
              <a:defRPr sz="2100" b="1">
                <a:solidFill>
                  <a:srgbClr val="172B36"/>
                </a:solidFill>
                <a:latin typeface="Arial"/>
                <a:ea typeface="Arial"/>
                <a:cs typeface="Arial"/>
              </a:defRPr>
            </a:lvl8pPr>
            <a:lvl9pPr>
              <a:defRPr sz="2100" b="1">
                <a:solidFill>
                  <a:srgbClr val="172B36"/>
                </a:solidFill>
                <a:latin typeface="Arial"/>
                <a:ea typeface="Arial"/>
                <a:cs typeface="Arial"/>
              </a:defRPr>
            </a:lvl9pPr>
          </a:lstStyle>
          <a:p xmlns:a="http://schemas.openxmlformats.org/drawingml/2006/main">
            <a:pPr>
              <a:defRPr sz="2100" b="1">
                <a:solidFill>
                  <a:srgbClr val="172B36"/>
                </a:solidFill>
                <a:latin typeface="Arial"/>
                <a:ea typeface="Arial"/>
                <a:cs typeface="Arial"/>
              </a:defRPr>
            </a:pPr>
            <a:r>
              <a:rPr sz="2100" b="1">
                <a:solidFill>
                  <a:srgbClr val="172B36"/>
                </a:solidFill>
                <a:latin typeface="Arial"/>
                <a:ea typeface="Arial"/>
                <a:cs typeface="Arial"/>
              </a:rPr>
              <a:t>Joint opening placement</a:t>
            </a:r>
          </a:p>
        </p:txBody>
      </p:sp>
      <p:sp>
        <p:nvSpPr>
          <p:cNvPr id="6" name="detail-0">
            <a:extLst xmlns:a="http://schemas.openxmlformats.org/drawingml/2006/main">
              <a:ext uri="{FF2B5EF4-FFF2-40B4-BE49-F238E27FC236}">
                <a16:creationId xmlns:a16="http://schemas.microsoft.com/office/drawing/2014/main" id="{7C0121EF-6D04-4EEF-99EF-12C4E67AC71B}"/>
              </a:ext>
            </a:extLst>
          </p:cNvPr>
          <p:cNvSpPr>
            <a:spLocks xmlns:a="http://schemas.openxmlformats.org/drawingml/2006/main" noGrp="1"/>
          </p:cNvSpPr>
          <p:nvPr/>
        </p:nvSpPr>
        <p:spPr>
          <a:xfrm xmlns:a="http://schemas.openxmlformats.org/drawingml/2006/main">
            <a:off x="5286375" y="2314575"/>
            <a:ext cx="621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2636E"/>
                </a:solidFill>
                <a:latin typeface="Arial"/>
                <a:ea typeface="Arial"/>
                <a:cs typeface="Arial"/>
              </a:defRPr>
            </a:defPPr>
            <a:lvl1pPr>
              <a:defRPr sz="1950" b="0">
                <a:solidFill>
                  <a:srgbClr val="52636E"/>
                </a:solidFill>
                <a:latin typeface="Arial"/>
                <a:ea typeface="Arial"/>
                <a:cs typeface="Arial"/>
              </a:defRPr>
            </a:lvl1pPr>
            <a:lvl2pPr>
              <a:defRPr sz="1950" b="0">
                <a:solidFill>
                  <a:srgbClr val="52636E"/>
                </a:solidFill>
                <a:latin typeface="Arial"/>
                <a:ea typeface="Arial"/>
                <a:cs typeface="Arial"/>
              </a:defRPr>
            </a:lvl2pPr>
            <a:lvl3pPr>
              <a:defRPr sz="1950" b="0">
                <a:solidFill>
                  <a:srgbClr val="52636E"/>
                </a:solidFill>
                <a:latin typeface="Arial"/>
                <a:ea typeface="Arial"/>
                <a:cs typeface="Arial"/>
              </a:defRPr>
            </a:lvl3pPr>
            <a:lvl4pPr>
              <a:defRPr sz="1950" b="0">
                <a:solidFill>
                  <a:srgbClr val="52636E"/>
                </a:solidFill>
                <a:latin typeface="Arial"/>
                <a:ea typeface="Arial"/>
                <a:cs typeface="Arial"/>
              </a:defRPr>
            </a:lvl4pPr>
            <a:lvl5pPr>
              <a:defRPr sz="1950" b="0">
                <a:solidFill>
                  <a:srgbClr val="52636E"/>
                </a:solidFill>
                <a:latin typeface="Arial"/>
                <a:ea typeface="Arial"/>
                <a:cs typeface="Arial"/>
              </a:defRPr>
            </a:lvl5pPr>
            <a:lvl6pPr>
              <a:defRPr sz="1950" b="0">
                <a:solidFill>
                  <a:srgbClr val="52636E"/>
                </a:solidFill>
                <a:latin typeface="Arial"/>
                <a:ea typeface="Arial"/>
                <a:cs typeface="Arial"/>
              </a:defRPr>
            </a:lvl6pPr>
            <a:lvl7pPr>
              <a:defRPr sz="1950" b="0">
                <a:solidFill>
                  <a:srgbClr val="52636E"/>
                </a:solidFill>
                <a:latin typeface="Arial"/>
                <a:ea typeface="Arial"/>
                <a:cs typeface="Arial"/>
              </a:defRPr>
            </a:lvl7pPr>
            <a:lvl8pPr>
              <a:defRPr sz="1950" b="0">
                <a:solidFill>
                  <a:srgbClr val="52636E"/>
                </a:solidFill>
                <a:latin typeface="Arial"/>
                <a:ea typeface="Arial"/>
                <a:cs typeface="Arial"/>
              </a:defRPr>
            </a:lvl8pPr>
            <a:lvl9pPr>
              <a:defRPr sz="1950" b="0">
                <a:solidFill>
                  <a:srgbClr val="52636E"/>
                </a:solidFill>
                <a:latin typeface="Arial"/>
                <a:ea typeface="Arial"/>
                <a:cs typeface="Arial"/>
              </a:defRPr>
            </a:lvl9pPr>
          </a:lstStyle>
          <a:p xmlns:a="http://schemas.openxmlformats.org/drawingml/2006/main">
            <a:pPr>
              <a:defRPr sz="1950" b="0">
                <a:solidFill>
                  <a:srgbClr val="52636E"/>
                </a:solidFill>
                <a:latin typeface="Arial"/>
                <a:ea typeface="Arial"/>
                <a:cs typeface="Arial"/>
              </a:defRPr>
            </a:pPr>
            <a:r>
              <a:rPr sz="1950" b="0">
                <a:solidFill>
                  <a:srgbClr val="52636E"/>
                </a:solidFill>
                <a:latin typeface="Arial"/>
                <a:ea typeface="Arial"/>
                <a:cs typeface="Arial"/>
              </a:rPr>
              <a:t>Balance production, ports and the opponent’s likely settlement choices.</a:t>
            </a:r>
          </a:p>
        </p:txBody>
      </p:sp>
      <p:sp>
        <p:nvSpPr>
          <p:cNvPr id="7" name="number-1">
            <a:extLst xmlns:a="http://schemas.openxmlformats.org/drawingml/2006/main">
              <a:ext uri="{FF2B5EF4-FFF2-40B4-BE49-F238E27FC236}">
                <a16:creationId xmlns:a16="http://schemas.microsoft.com/office/drawing/2014/main" id="{EDCA9CD5-C962-4198-92ED-008947A0387A}"/>
              </a:ext>
            </a:extLst>
          </p:cNvPr>
          <p:cNvSpPr>
            <a:spLocks xmlns:a="http://schemas.openxmlformats.org/drawingml/2006/main" noGrp="1"/>
          </p:cNvSpPr>
          <p:nvPr/>
        </p:nvSpPr>
        <p:spPr>
          <a:xfrm xmlns:a="http://schemas.openxmlformats.org/drawingml/2006/main">
            <a:off x="685800" y="3248025"/>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C7C86"/>
                </a:solidFill>
                <a:latin typeface="Arial"/>
                <a:ea typeface="Arial"/>
                <a:cs typeface="Arial"/>
              </a:defRPr>
            </a:defPPr>
            <a:lvl1pPr>
              <a:defRPr sz="2250" b="1">
                <a:solidFill>
                  <a:srgbClr val="0C7C86"/>
                </a:solidFill>
                <a:latin typeface="Arial"/>
                <a:ea typeface="Arial"/>
                <a:cs typeface="Arial"/>
              </a:defRPr>
            </a:lvl1pPr>
            <a:lvl2pPr>
              <a:defRPr sz="2250" b="1">
                <a:solidFill>
                  <a:srgbClr val="0C7C86"/>
                </a:solidFill>
                <a:latin typeface="Arial"/>
                <a:ea typeface="Arial"/>
                <a:cs typeface="Arial"/>
              </a:defRPr>
            </a:lvl2pPr>
            <a:lvl3pPr>
              <a:defRPr sz="2250" b="1">
                <a:solidFill>
                  <a:srgbClr val="0C7C86"/>
                </a:solidFill>
                <a:latin typeface="Arial"/>
                <a:ea typeface="Arial"/>
                <a:cs typeface="Arial"/>
              </a:defRPr>
            </a:lvl3pPr>
            <a:lvl4pPr>
              <a:defRPr sz="2250" b="1">
                <a:solidFill>
                  <a:srgbClr val="0C7C86"/>
                </a:solidFill>
                <a:latin typeface="Arial"/>
                <a:ea typeface="Arial"/>
                <a:cs typeface="Arial"/>
              </a:defRPr>
            </a:lvl4pPr>
            <a:lvl5pPr>
              <a:defRPr sz="2250" b="1">
                <a:solidFill>
                  <a:srgbClr val="0C7C86"/>
                </a:solidFill>
                <a:latin typeface="Arial"/>
                <a:ea typeface="Arial"/>
                <a:cs typeface="Arial"/>
              </a:defRPr>
            </a:lvl5pPr>
            <a:lvl6pPr>
              <a:defRPr sz="2250" b="1">
                <a:solidFill>
                  <a:srgbClr val="0C7C86"/>
                </a:solidFill>
                <a:latin typeface="Arial"/>
                <a:ea typeface="Arial"/>
                <a:cs typeface="Arial"/>
              </a:defRPr>
            </a:lvl6pPr>
            <a:lvl7pPr>
              <a:defRPr sz="2250" b="1">
                <a:solidFill>
                  <a:srgbClr val="0C7C86"/>
                </a:solidFill>
                <a:latin typeface="Arial"/>
                <a:ea typeface="Arial"/>
                <a:cs typeface="Arial"/>
              </a:defRPr>
            </a:lvl7pPr>
            <a:lvl8pPr>
              <a:defRPr sz="2250" b="1">
                <a:solidFill>
                  <a:srgbClr val="0C7C86"/>
                </a:solidFill>
                <a:latin typeface="Arial"/>
                <a:ea typeface="Arial"/>
                <a:cs typeface="Arial"/>
              </a:defRPr>
            </a:lvl8pPr>
            <a:lvl9pPr>
              <a:defRPr sz="2250" b="1">
                <a:solidFill>
                  <a:srgbClr val="0C7C86"/>
                </a:solidFill>
                <a:latin typeface="Arial"/>
                <a:ea typeface="Arial"/>
                <a:cs typeface="Arial"/>
              </a:defRPr>
            </a:lvl9pPr>
          </a:lstStyle>
          <a:p xmlns:a="http://schemas.openxmlformats.org/drawingml/2006/main">
            <a:pPr>
              <a:defRPr sz="2250" b="1">
                <a:solidFill>
                  <a:srgbClr val="0C7C86"/>
                </a:solidFill>
                <a:latin typeface="Arial"/>
                <a:ea typeface="Arial"/>
                <a:cs typeface="Arial"/>
              </a:defRPr>
            </a:pPr>
            <a:r>
              <a:rPr sz="2250" b="1">
                <a:solidFill>
                  <a:srgbClr val="0C7C86"/>
                </a:solidFill>
                <a:latin typeface="Arial"/>
                <a:ea typeface="Arial"/>
                <a:cs typeface="Arial"/>
              </a:rPr>
              <a:t>02</a:t>
            </a:r>
          </a:p>
        </p:txBody>
      </p:sp>
      <p:sp>
        <p:nvSpPr>
          <p:cNvPr id="8" name="method-1">
            <a:extLst xmlns:a="http://schemas.openxmlformats.org/drawingml/2006/main">
              <a:ext uri="{FF2B5EF4-FFF2-40B4-BE49-F238E27FC236}">
                <a16:creationId xmlns:a16="http://schemas.microsoft.com/office/drawing/2014/main" id="{DA19AF62-E562-46AA-90D7-66ED475E274F}"/>
              </a:ext>
            </a:extLst>
          </p:cNvPr>
          <p:cNvSpPr>
            <a:spLocks xmlns:a="http://schemas.openxmlformats.org/drawingml/2006/main" noGrp="1"/>
          </p:cNvSpPr>
          <p:nvPr/>
        </p:nvSpPr>
        <p:spPr>
          <a:xfrm xmlns:a="http://schemas.openxmlformats.org/drawingml/2006/main">
            <a:off x="1524000" y="3248025"/>
            <a:ext cx="3571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36"/>
                </a:solidFill>
                <a:latin typeface="Arial"/>
                <a:ea typeface="Arial"/>
                <a:cs typeface="Arial"/>
              </a:defRPr>
            </a:defPPr>
            <a:lvl1pPr>
              <a:defRPr sz="2100" b="1">
                <a:solidFill>
                  <a:srgbClr val="172B36"/>
                </a:solidFill>
                <a:latin typeface="Arial"/>
                <a:ea typeface="Arial"/>
                <a:cs typeface="Arial"/>
              </a:defRPr>
            </a:lvl1pPr>
            <a:lvl2pPr>
              <a:defRPr sz="2100" b="1">
                <a:solidFill>
                  <a:srgbClr val="172B36"/>
                </a:solidFill>
                <a:latin typeface="Arial"/>
                <a:ea typeface="Arial"/>
                <a:cs typeface="Arial"/>
              </a:defRPr>
            </a:lvl2pPr>
            <a:lvl3pPr>
              <a:defRPr sz="2100" b="1">
                <a:solidFill>
                  <a:srgbClr val="172B36"/>
                </a:solidFill>
                <a:latin typeface="Arial"/>
                <a:ea typeface="Arial"/>
                <a:cs typeface="Arial"/>
              </a:defRPr>
            </a:lvl3pPr>
            <a:lvl4pPr>
              <a:defRPr sz="2100" b="1">
                <a:solidFill>
                  <a:srgbClr val="172B36"/>
                </a:solidFill>
                <a:latin typeface="Arial"/>
                <a:ea typeface="Arial"/>
                <a:cs typeface="Arial"/>
              </a:defRPr>
            </a:lvl4pPr>
            <a:lvl5pPr>
              <a:defRPr sz="2100" b="1">
                <a:solidFill>
                  <a:srgbClr val="172B36"/>
                </a:solidFill>
                <a:latin typeface="Arial"/>
                <a:ea typeface="Arial"/>
                <a:cs typeface="Arial"/>
              </a:defRPr>
            </a:lvl5pPr>
            <a:lvl6pPr>
              <a:defRPr sz="2100" b="1">
                <a:solidFill>
                  <a:srgbClr val="172B36"/>
                </a:solidFill>
                <a:latin typeface="Arial"/>
                <a:ea typeface="Arial"/>
                <a:cs typeface="Arial"/>
              </a:defRPr>
            </a:lvl6pPr>
            <a:lvl7pPr>
              <a:defRPr sz="2100" b="1">
                <a:solidFill>
                  <a:srgbClr val="172B36"/>
                </a:solidFill>
                <a:latin typeface="Arial"/>
                <a:ea typeface="Arial"/>
                <a:cs typeface="Arial"/>
              </a:defRPr>
            </a:lvl7pPr>
            <a:lvl8pPr>
              <a:defRPr sz="2100" b="1">
                <a:solidFill>
                  <a:srgbClr val="172B36"/>
                </a:solidFill>
                <a:latin typeface="Arial"/>
                <a:ea typeface="Arial"/>
                <a:cs typeface="Arial"/>
              </a:defRPr>
            </a:lvl8pPr>
            <a:lvl9pPr>
              <a:defRPr sz="2100" b="1">
                <a:solidFill>
                  <a:srgbClr val="172B36"/>
                </a:solidFill>
                <a:latin typeface="Arial"/>
                <a:ea typeface="Arial"/>
                <a:cs typeface="Arial"/>
              </a:defRPr>
            </a:lvl9pPr>
          </a:lstStyle>
          <a:p xmlns:a="http://schemas.openxmlformats.org/drawingml/2006/main">
            <a:pPr>
              <a:defRPr sz="2100" b="1">
                <a:solidFill>
                  <a:srgbClr val="172B36"/>
                </a:solidFill>
                <a:latin typeface="Arial"/>
                <a:ea typeface="Arial"/>
                <a:cs typeface="Arial"/>
              </a:defRPr>
            </a:pPr>
            <a:r>
              <a:rPr sz="2100" b="1">
                <a:solidFill>
                  <a:srgbClr val="172B36"/>
                </a:solidFill>
                <a:latin typeface="Arial"/>
                <a:ea typeface="Arial"/>
                <a:cs typeface="Arial"/>
              </a:rPr>
              <a:t>Resource-aware afterstates</a:t>
            </a:r>
          </a:p>
        </p:txBody>
      </p:sp>
      <p:sp>
        <p:nvSpPr>
          <p:cNvPr id="9" name="detail-1">
            <a:extLst xmlns:a="http://schemas.openxmlformats.org/drawingml/2006/main">
              <a:ext uri="{FF2B5EF4-FFF2-40B4-BE49-F238E27FC236}">
                <a16:creationId xmlns:a16="http://schemas.microsoft.com/office/drawing/2014/main" id="{F5AC7148-5AB7-4EE7-BD7E-7F2B12F006F8}"/>
              </a:ext>
            </a:extLst>
          </p:cNvPr>
          <p:cNvSpPr>
            <a:spLocks xmlns:a="http://schemas.openxmlformats.org/drawingml/2006/main" noGrp="1"/>
          </p:cNvSpPr>
          <p:nvPr/>
        </p:nvSpPr>
        <p:spPr>
          <a:xfrm xmlns:a="http://schemas.openxmlformats.org/drawingml/2006/main">
            <a:off x="5286375" y="3248025"/>
            <a:ext cx="621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2636E"/>
                </a:solidFill>
                <a:latin typeface="Arial"/>
                <a:ea typeface="Arial"/>
                <a:cs typeface="Arial"/>
              </a:defRPr>
            </a:defPPr>
            <a:lvl1pPr>
              <a:defRPr sz="1950" b="0">
                <a:solidFill>
                  <a:srgbClr val="52636E"/>
                </a:solidFill>
                <a:latin typeface="Arial"/>
                <a:ea typeface="Arial"/>
                <a:cs typeface="Arial"/>
              </a:defRPr>
            </a:lvl1pPr>
            <a:lvl2pPr>
              <a:defRPr sz="1950" b="0">
                <a:solidFill>
                  <a:srgbClr val="52636E"/>
                </a:solidFill>
                <a:latin typeface="Arial"/>
                <a:ea typeface="Arial"/>
                <a:cs typeface="Arial"/>
              </a:defRPr>
            </a:lvl2pPr>
            <a:lvl3pPr>
              <a:defRPr sz="1950" b="0">
                <a:solidFill>
                  <a:srgbClr val="52636E"/>
                </a:solidFill>
                <a:latin typeface="Arial"/>
                <a:ea typeface="Arial"/>
                <a:cs typeface="Arial"/>
              </a:defRPr>
            </a:lvl3pPr>
            <a:lvl4pPr>
              <a:defRPr sz="1950" b="0">
                <a:solidFill>
                  <a:srgbClr val="52636E"/>
                </a:solidFill>
                <a:latin typeface="Arial"/>
                <a:ea typeface="Arial"/>
                <a:cs typeface="Arial"/>
              </a:defRPr>
            </a:lvl4pPr>
            <a:lvl5pPr>
              <a:defRPr sz="1950" b="0">
                <a:solidFill>
                  <a:srgbClr val="52636E"/>
                </a:solidFill>
                <a:latin typeface="Arial"/>
                <a:ea typeface="Arial"/>
                <a:cs typeface="Arial"/>
              </a:defRPr>
            </a:lvl5pPr>
            <a:lvl6pPr>
              <a:defRPr sz="1950" b="0">
                <a:solidFill>
                  <a:srgbClr val="52636E"/>
                </a:solidFill>
                <a:latin typeface="Arial"/>
                <a:ea typeface="Arial"/>
                <a:cs typeface="Arial"/>
              </a:defRPr>
            </a:lvl6pPr>
            <a:lvl7pPr>
              <a:defRPr sz="1950" b="0">
                <a:solidFill>
                  <a:srgbClr val="52636E"/>
                </a:solidFill>
                <a:latin typeface="Arial"/>
                <a:ea typeface="Arial"/>
                <a:cs typeface="Arial"/>
              </a:defRPr>
            </a:lvl7pPr>
            <a:lvl8pPr>
              <a:defRPr sz="1950" b="0">
                <a:solidFill>
                  <a:srgbClr val="52636E"/>
                </a:solidFill>
                <a:latin typeface="Arial"/>
                <a:ea typeface="Arial"/>
                <a:cs typeface="Arial"/>
              </a:defRPr>
            </a:lvl8pPr>
            <a:lvl9pPr>
              <a:defRPr sz="1950" b="0">
                <a:solidFill>
                  <a:srgbClr val="52636E"/>
                </a:solidFill>
                <a:latin typeface="Arial"/>
                <a:ea typeface="Arial"/>
                <a:cs typeface="Arial"/>
              </a:defRPr>
            </a:lvl9pPr>
          </a:lstStyle>
          <a:p xmlns:a="http://schemas.openxmlformats.org/drawingml/2006/main">
            <a:pPr>
              <a:defRPr sz="1950" b="0">
                <a:solidFill>
                  <a:srgbClr val="52636E"/>
                </a:solidFill>
                <a:latin typeface="Arial"/>
                <a:ea typeface="Arial"/>
                <a:cs typeface="Arial"/>
              </a:defRPr>
            </a:pPr>
            <a:r>
              <a:rPr sz="1950" b="0">
                <a:solidFill>
                  <a:srgbClr val="52636E"/>
                </a:solidFill>
                <a:latin typeface="Arial"/>
                <a:ea typeface="Arial"/>
                <a:cs typeface="Arial"/>
              </a:rPr>
              <a:t>Value points, economy, build readiness, expansion and award progress.</a:t>
            </a:r>
          </a:p>
        </p:txBody>
      </p:sp>
      <p:sp>
        <p:nvSpPr>
          <p:cNvPr id="10" name="number-2">
            <a:extLst xmlns:a="http://schemas.openxmlformats.org/drawingml/2006/main">
              <a:ext uri="{FF2B5EF4-FFF2-40B4-BE49-F238E27FC236}">
                <a16:creationId xmlns:a16="http://schemas.microsoft.com/office/drawing/2014/main" id="{ABA7C7FB-ED54-4065-A4EB-C491FA38803E}"/>
              </a:ext>
            </a:extLst>
          </p:cNvPr>
          <p:cNvSpPr>
            <a:spLocks xmlns:a="http://schemas.openxmlformats.org/drawingml/2006/main" noGrp="1"/>
          </p:cNvSpPr>
          <p:nvPr/>
        </p:nvSpPr>
        <p:spPr>
          <a:xfrm xmlns:a="http://schemas.openxmlformats.org/drawingml/2006/main">
            <a:off x="685800" y="4181475"/>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C7C86"/>
                </a:solidFill>
                <a:latin typeface="Arial"/>
                <a:ea typeface="Arial"/>
                <a:cs typeface="Arial"/>
              </a:defRPr>
            </a:defPPr>
            <a:lvl1pPr>
              <a:defRPr sz="2250" b="1">
                <a:solidFill>
                  <a:srgbClr val="0C7C86"/>
                </a:solidFill>
                <a:latin typeface="Arial"/>
                <a:ea typeface="Arial"/>
                <a:cs typeface="Arial"/>
              </a:defRPr>
            </a:lvl1pPr>
            <a:lvl2pPr>
              <a:defRPr sz="2250" b="1">
                <a:solidFill>
                  <a:srgbClr val="0C7C86"/>
                </a:solidFill>
                <a:latin typeface="Arial"/>
                <a:ea typeface="Arial"/>
                <a:cs typeface="Arial"/>
              </a:defRPr>
            </a:lvl2pPr>
            <a:lvl3pPr>
              <a:defRPr sz="2250" b="1">
                <a:solidFill>
                  <a:srgbClr val="0C7C86"/>
                </a:solidFill>
                <a:latin typeface="Arial"/>
                <a:ea typeface="Arial"/>
                <a:cs typeface="Arial"/>
              </a:defRPr>
            </a:lvl3pPr>
            <a:lvl4pPr>
              <a:defRPr sz="2250" b="1">
                <a:solidFill>
                  <a:srgbClr val="0C7C86"/>
                </a:solidFill>
                <a:latin typeface="Arial"/>
                <a:ea typeface="Arial"/>
                <a:cs typeface="Arial"/>
              </a:defRPr>
            </a:lvl4pPr>
            <a:lvl5pPr>
              <a:defRPr sz="2250" b="1">
                <a:solidFill>
                  <a:srgbClr val="0C7C86"/>
                </a:solidFill>
                <a:latin typeface="Arial"/>
                <a:ea typeface="Arial"/>
                <a:cs typeface="Arial"/>
              </a:defRPr>
            </a:lvl5pPr>
            <a:lvl6pPr>
              <a:defRPr sz="2250" b="1">
                <a:solidFill>
                  <a:srgbClr val="0C7C86"/>
                </a:solidFill>
                <a:latin typeface="Arial"/>
                <a:ea typeface="Arial"/>
                <a:cs typeface="Arial"/>
              </a:defRPr>
            </a:lvl6pPr>
            <a:lvl7pPr>
              <a:defRPr sz="2250" b="1">
                <a:solidFill>
                  <a:srgbClr val="0C7C86"/>
                </a:solidFill>
                <a:latin typeface="Arial"/>
                <a:ea typeface="Arial"/>
                <a:cs typeface="Arial"/>
              </a:defRPr>
            </a:lvl7pPr>
            <a:lvl8pPr>
              <a:defRPr sz="2250" b="1">
                <a:solidFill>
                  <a:srgbClr val="0C7C86"/>
                </a:solidFill>
                <a:latin typeface="Arial"/>
                <a:ea typeface="Arial"/>
                <a:cs typeface="Arial"/>
              </a:defRPr>
            </a:lvl8pPr>
            <a:lvl9pPr>
              <a:defRPr sz="2250" b="1">
                <a:solidFill>
                  <a:srgbClr val="0C7C86"/>
                </a:solidFill>
                <a:latin typeface="Arial"/>
                <a:ea typeface="Arial"/>
                <a:cs typeface="Arial"/>
              </a:defRPr>
            </a:lvl9pPr>
          </a:lstStyle>
          <a:p xmlns:a="http://schemas.openxmlformats.org/drawingml/2006/main">
            <a:pPr>
              <a:defRPr sz="2250" b="1">
                <a:solidFill>
                  <a:srgbClr val="0C7C86"/>
                </a:solidFill>
                <a:latin typeface="Arial"/>
                <a:ea typeface="Arial"/>
                <a:cs typeface="Arial"/>
              </a:defRPr>
            </a:pPr>
            <a:r>
              <a:rPr sz="2250" b="1">
                <a:solidFill>
                  <a:srgbClr val="0C7C86"/>
                </a:solidFill>
                <a:latin typeface="Arial"/>
                <a:ea typeface="Arial"/>
                <a:cs typeface="Arial"/>
              </a:rPr>
              <a:t>03</a:t>
            </a:r>
          </a:p>
        </p:txBody>
      </p:sp>
      <p:sp>
        <p:nvSpPr>
          <p:cNvPr id="11" name="method-2">
            <a:extLst xmlns:a="http://schemas.openxmlformats.org/drawingml/2006/main">
              <a:ext uri="{FF2B5EF4-FFF2-40B4-BE49-F238E27FC236}">
                <a16:creationId xmlns:a16="http://schemas.microsoft.com/office/drawing/2014/main" id="{9D647523-0908-4A93-9D35-B8724AA43D13}"/>
              </a:ext>
            </a:extLst>
          </p:cNvPr>
          <p:cNvSpPr>
            <a:spLocks xmlns:a="http://schemas.openxmlformats.org/drawingml/2006/main" noGrp="1"/>
          </p:cNvSpPr>
          <p:nvPr/>
        </p:nvSpPr>
        <p:spPr>
          <a:xfrm xmlns:a="http://schemas.openxmlformats.org/drawingml/2006/main">
            <a:off x="1524000" y="4181475"/>
            <a:ext cx="3571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36"/>
                </a:solidFill>
                <a:latin typeface="Arial"/>
                <a:ea typeface="Arial"/>
                <a:cs typeface="Arial"/>
              </a:defRPr>
            </a:defPPr>
            <a:lvl1pPr>
              <a:defRPr sz="2100" b="1">
                <a:solidFill>
                  <a:srgbClr val="172B36"/>
                </a:solidFill>
                <a:latin typeface="Arial"/>
                <a:ea typeface="Arial"/>
                <a:cs typeface="Arial"/>
              </a:defRPr>
            </a:lvl1pPr>
            <a:lvl2pPr>
              <a:defRPr sz="2100" b="1">
                <a:solidFill>
                  <a:srgbClr val="172B36"/>
                </a:solidFill>
                <a:latin typeface="Arial"/>
                <a:ea typeface="Arial"/>
                <a:cs typeface="Arial"/>
              </a:defRPr>
            </a:lvl2pPr>
            <a:lvl3pPr>
              <a:defRPr sz="2100" b="1">
                <a:solidFill>
                  <a:srgbClr val="172B36"/>
                </a:solidFill>
                <a:latin typeface="Arial"/>
                <a:ea typeface="Arial"/>
                <a:cs typeface="Arial"/>
              </a:defRPr>
            </a:lvl3pPr>
            <a:lvl4pPr>
              <a:defRPr sz="2100" b="1">
                <a:solidFill>
                  <a:srgbClr val="172B36"/>
                </a:solidFill>
                <a:latin typeface="Arial"/>
                <a:ea typeface="Arial"/>
                <a:cs typeface="Arial"/>
              </a:defRPr>
            </a:lvl4pPr>
            <a:lvl5pPr>
              <a:defRPr sz="2100" b="1">
                <a:solidFill>
                  <a:srgbClr val="172B36"/>
                </a:solidFill>
                <a:latin typeface="Arial"/>
                <a:ea typeface="Arial"/>
                <a:cs typeface="Arial"/>
              </a:defRPr>
            </a:lvl5pPr>
            <a:lvl6pPr>
              <a:defRPr sz="2100" b="1">
                <a:solidFill>
                  <a:srgbClr val="172B36"/>
                </a:solidFill>
                <a:latin typeface="Arial"/>
                <a:ea typeface="Arial"/>
                <a:cs typeface="Arial"/>
              </a:defRPr>
            </a:lvl6pPr>
            <a:lvl7pPr>
              <a:defRPr sz="2100" b="1">
                <a:solidFill>
                  <a:srgbClr val="172B36"/>
                </a:solidFill>
                <a:latin typeface="Arial"/>
                <a:ea typeface="Arial"/>
                <a:cs typeface="Arial"/>
              </a:defRPr>
            </a:lvl7pPr>
            <a:lvl8pPr>
              <a:defRPr sz="2100" b="1">
                <a:solidFill>
                  <a:srgbClr val="172B36"/>
                </a:solidFill>
                <a:latin typeface="Arial"/>
                <a:ea typeface="Arial"/>
                <a:cs typeface="Arial"/>
              </a:defRPr>
            </a:lvl8pPr>
            <a:lvl9pPr>
              <a:defRPr sz="2100" b="1">
                <a:solidFill>
                  <a:srgbClr val="172B36"/>
                </a:solidFill>
                <a:latin typeface="Arial"/>
                <a:ea typeface="Arial"/>
                <a:cs typeface="Arial"/>
              </a:defRPr>
            </a:lvl9pPr>
          </a:lstStyle>
          <a:p xmlns:a="http://schemas.openxmlformats.org/drawingml/2006/main">
            <a:pPr>
              <a:defRPr sz="2100" b="1">
                <a:solidFill>
                  <a:srgbClr val="172B36"/>
                </a:solidFill>
                <a:latin typeface="Arial"/>
                <a:ea typeface="Arial"/>
                <a:cs typeface="Arial"/>
              </a:defRPr>
            </a:pPr>
            <a:r>
              <a:rPr sz="2100" b="1">
                <a:solidFill>
                  <a:srgbClr val="172B36"/>
                </a:solidFill>
                <a:latin typeface="Arial"/>
                <a:ea typeface="Arial"/>
                <a:cs typeface="Arial"/>
              </a:rPr>
              <a:t>Bounded same-turn search</a:t>
            </a:r>
          </a:p>
        </p:txBody>
      </p:sp>
      <p:sp>
        <p:nvSpPr>
          <p:cNvPr id="12" name="detail-2">
            <a:extLst xmlns:a="http://schemas.openxmlformats.org/drawingml/2006/main">
              <a:ext uri="{FF2B5EF4-FFF2-40B4-BE49-F238E27FC236}">
                <a16:creationId xmlns:a16="http://schemas.microsoft.com/office/drawing/2014/main" id="{17966F90-F027-485D-8BAA-6A8DFDB8D9B6}"/>
              </a:ext>
            </a:extLst>
          </p:cNvPr>
          <p:cNvSpPr>
            <a:spLocks xmlns:a="http://schemas.openxmlformats.org/drawingml/2006/main" noGrp="1"/>
          </p:cNvSpPr>
          <p:nvPr/>
        </p:nvSpPr>
        <p:spPr>
          <a:xfrm xmlns:a="http://schemas.openxmlformats.org/drawingml/2006/main">
            <a:off x="5286375" y="4181475"/>
            <a:ext cx="621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2636E"/>
                </a:solidFill>
                <a:latin typeface="Arial"/>
                <a:ea typeface="Arial"/>
                <a:cs typeface="Arial"/>
              </a:defRPr>
            </a:defPPr>
            <a:lvl1pPr>
              <a:defRPr sz="1950" b="0">
                <a:solidFill>
                  <a:srgbClr val="52636E"/>
                </a:solidFill>
                <a:latin typeface="Arial"/>
                <a:ea typeface="Arial"/>
                <a:cs typeface="Arial"/>
              </a:defRPr>
            </a:lvl1pPr>
            <a:lvl2pPr>
              <a:defRPr sz="1950" b="0">
                <a:solidFill>
                  <a:srgbClr val="52636E"/>
                </a:solidFill>
                <a:latin typeface="Arial"/>
                <a:ea typeface="Arial"/>
                <a:cs typeface="Arial"/>
              </a:defRPr>
            </a:lvl2pPr>
            <a:lvl3pPr>
              <a:defRPr sz="1950" b="0">
                <a:solidFill>
                  <a:srgbClr val="52636E"/>
                </a:solidFill>
                <a:latin typeface="Arial"/>
                <a:ea typeface="Arial"/>
                <a:cs typeface="Arial"/>
              </a:defRPr>
            </a:lvl3pPr>
            <a:lvl4pPr>
              <a:defRPr sz="1950" b="0">
                <a:solidFill>
                  <a:srgbClr val="52636E"/>
                </a:solidFill>
                <a:latin typeface="Arial"/>
                <a:ea typeface="Arial"/>
                <a:cs typeface="Arial"/>
              </a:defRPr>
            </a:lvl4pPr>
            <a:lvl5pPr>
              <a:defRPr sz="1950" b="0">
                <a:solidFill>
                  <a:srgbClr val="52636E"/>
                </a:solidFill>
                <a:latin typeface="Arial"/>
                <a:ea typeface="Arial"/>
                <a:cs typeface="Arial"/>
              </a:defRPr>
            </a:lvl5pPr>
            <a:lvl6pPr>
              <a:defRPr sz="1950" b="0">
                <a:solidFill>
                  <a:srgbClr val="52636E"/>
                </a:solidFill>
                <a:latin typeface="Arial"/>
                <a:ea typeface="Arial"/>
                <a:cs typeface="Arial"/>
              </a:defRPr>
            </a:lvl6pPr>
            <a:lvl7pPr>
              <a:defRPr sz="1950" b="0">
                <a:solidFill>
                  <a:srgbClr val="52636E"/>
                </a:solidFill>
                <a:latin typeface="Arial"/>
                <a:ea typeface="Arial"/>
                <a:cs typeface="Arial"/>
              </a:defRPr>
            </a:lvl7pPr>
            <a:lvl8pPr>
              <a:defRPr sz="1950" b="0">
                <a:solidFill>
                  <a:srgbClr val="52636E"/>
                </a:solidFill>
                <a:latin typeface="Arial"/>
                <a:ea typeface="Arial"/>
                <a:cs typeface="Arial"/>
              </a:defRPr>
            </a:lvl8pPr>
            <a:lvl9pPr>
              <a:defRPr sz="1950" b="0">
                <a:solidFill>
                  <a:srgbClr val="52636E"/>
                </a:solidFill>
                <a:latin typeface="Arial"/>
                <a:ea typeface="Arial"/>
                <a:cs typeface="Arial"/>
              </a:defRPr>
            </a:lvl9pPr>
          </a:lstStyle>
          <a:p xmlns:a="http://schemas.openxmlformats.org/drawingml/2006/main">
            <a:pPr>
              <a:defRPr sz="1950" b="0">
                <a:solidFill>
                  <a:srgbClr val="52636E"/>
                </a:solidFill>
                <a:latin typeface="Arial"/>
                <a:ea typeface="Arial"/>
                <a:cs typeface="Arial"/>
              </a:defRPr>
            </a:pPr>
            <a:r>
              <a:rPr sz="1950" b="0">
                <a:solidFill>
                  <a:srgbClr val="52636E"/>
                </a:solidFill>
                <a:latin typeface="Arial"/>
                <a:ea typeface="Arial"/>
                <a:cs typeface="Arial"/>
              </a:rPr>
              <a:t>Width 6, depth 5, 160 nodes. Follow-up search gets at most 18 ms.</a:t>
            </a:r>
          </a:p>
        </p:txBody>
      </p:sp>
      <p:sp>
        <p:nvSpPr>
          <p:cNvPr id="13" name="number-3">
            <a:extLst xmlns:a="http://schemas.openxmlformats.org/drawingml/2006/main">
              <a:ext uri="{FF2B5EF4-FFF2-40B4-BE49-F238E27FC236}">
                <a16:creationId xmlns:a16="http://schemas.microsoft.com/office/drawing/2014/main" id="{487F7275-2D6C-4FF0-AF72-2AA04179E085}"/>
              </a:ext>
            </a:extLst>
          </p:cNvPr>
          <p:cNvSpPr>
            <a:spLocks xmlns:a="http://schemas.openxmlformats.org/drawingml/2006/main" noGrp="1"/>
          </p:cNvSpPr>
          <p:nvPr/>
        </p:nvSpPr>
        <p:spPr>
          <a:xfrm xmlns:a="http://schemas.openxmlformats.org/drawingml/2006/main">
            <a:off x="685800" y="5114925"/>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C7C86"/>
                </a:solidFill>
                <a:latin typeface="Arial"/>
                <a:ea typeface="Arial"/>
                <a:cs typeface="Arial"/>
              </a:defRPr>
            </a:defPPr>
            <a:lvl1pPr>
              <a:defRPr sz="2250" b="1">
                <a:solidFill>
                  <a:srgbClr val="0C7C86"/>
                </a:solidFill>
                <a:latin typeface="Arial"/>
                <a:ea typeface="Arial"/>
                <a:cs typeface="Arial"/>
              </a:defRPr>
            </a:lvl1pPr>
            <a:lvl2pPr>
              <a:defRPr sz="2250" b="1">
                <a:solidFill>
                  <a:srgbClr val="0C7C86"/>
                </a:solidFill>
                <a:latin typeface="Arial"/>
                <a:ea typeface="Arial"/>
                <a:cs typeface="Arial"/>
              </a:defRPr>
            </a:lvl2pPr>
            <a:lvl3pPr>
              <a:defRPr sz="2250" b="1">
                <a:solidFill>
                  <a:srgbClr val="0C7C86"/>
                </a:solidFill>
                <a:latin typeface="Arial"/>
                <a:ea typeface="Arial"/>
                <a:cs typeface="Arial"/>
              </a:defRPr>
            </a:lvl3pPr>
            <a:lvl4pPr>
              <a:defRPr sz="2250" b="1">
                <a:solidFill>
                  <a:srgbClr val="0C7C86"/>
                </a:solidFill>
                <a:latin typeface="Arial"/>
                <a:ea typeface="Arial"/>
                <a:cs typeface="Arial"/>
              </a:defRPr>
            </a:lvl4pPr>
            <a:lvl5pPr>
              <a:defRPr sz="2250" b="1">
                <a:solidFill>
                  <a:srgbClr val="0C7C86"/>
                </a:solidFill>
                <a:latin typeface="Arial"/>
                <a:ea typeface="Arial"/>
                <a:cs typeface="Arial"/>
              </a:defRPr>
            </a:lvl5pPr>
            <a:lvl6pPr>
              <a:defRPr sz="2250" b="1">
                <a:solidFill>
                  <a:srgbClr val="0C7C86"/>
                </a:solidFill>
                <a:latin typeface="Arial"/>
                <a:ea typeface="Arial"/>
                <a:cs typeface="Arial"/>
              </a:defRPr>
            </a:lvl6pPr>
            <a:lvl7pPr>
              <a:defRPr sz="2250" b="1">
                <a:solidFill>
                  <a:srgbClr val="0C7C86"/>
                </a:solidFill>
                <a:latin typeface="Arial"/>
                <a:ea typeface="Arial"/>
                <a:cs typeface="Arial"/>
              </a:defRPr>
            </a:lvl7pPr>
            <a:lvl8pPr>
              <a:defRPr sz="2250" b="1">
                <a:solidFill>
                  <a:srgbClr val="0C7C86"/>
                </a:solidFill>
                <a:latin typeface="Arial"/>
                <a:ea typeface="Arial"/>
                <a:cs typeface="Arial"/>
              </a:defRPr>
            </a:lvl8pPr>
            <a:lvl9pPr>
              <a:defRPr sz="2250" b="1">
                <a:solidFill>
                  <a:srgbClr val="0C7C86"/>
                </a:solidFill>
                <a:latin typeface="Arial"/>
                <a:ea typeface="Arial"/>
                <a:cs typeface="Arial"/>
              </a:defRPr>
            </a:lvl9pPr>
          </a:lstStyle>
          <a:p xmlns:a="http://schemas.openxmlformats.org/drawingml/2006/main">
            <a:pPr>
              <a:defRPr sz="2250" b="1">
                <a:solidFill>
                  <a:srgbClr val="0C7C86"/>
                </a:solidFill>
                <a:latin typeface="Arial"/>
                <a:ea typeface="Arial"/>
                <a:cs typeface="Arial"/>
              </a:defRPr>
            </a:pPr>
            <a:r>
              <a:rPr sz="2250" b="1">
                <a:solidFill>
                  <a:srgbClr val="0C7C86"/>
                </a:solidFill>
                <a:latin typeface="Arial"/>
                <a:ea typeface="Arial"/>
                <a:cs typeface="Arial"/>
              </a:rPr>
              <a:t>04</a:t>
            </a:r>
          </a:p>
        </p:txBody>
      </p:sp>
      <p:sp>
        <p:nvSpPr>
          <p:cNvPr id="14" name="method-3">
            <a:extLst xmlns:a="http://schemas.openxmlformats.org/drawingml/2006/main">
              <a:ext uri="{FF2B5EF4-FFF2-40B4-BE49-F238E27FC236}">
                <a16:creationId xmlns:a16="http://schemas.microsoft.com/office/drawing/2014/main" id="{154E1C0D-D0B7-4E42-A58D-6E0F23D65131}"/>
              </a:ext>
            </a:extLst>
          </p:cNvPr>
          <p:cNvSpPr>
            <a:spLocks xmlns:a="http://schemas.openxmlformats.org/drawingml/2006/main" noGrp="1"/>
          </p:cNvSpPr>
          <p:nvPr/>
        </p:nvSpPr>
        <p:spPr>
          <a:xfrm xmlns:a="http://schemas.openxmlformats.org/drawingml/2006/main">
            <a:off x="1524000" y="5114925"/>
            <a:ext cx="3571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36"/>
                </a:solidFill>
                <a:latin typeface="Arial"/>
                <a:ea typeface="Arial"/>
                <a:cs typeface="Arial"/>
              </a:defRPr>
            </a:defPPr>
            <a:lvl1pPr>
              <a:defRPr sz="2100" b="1">
                <a:solidFill>
                  <a:srgbClr val="172B36"/>
                </a:solidFill>
                <a:latin typeface="Arial"/>
                <a:ea typeface="Arial"/>
                <a:cs typeface="Arial"/>
              </a:defRPr>
            </a:lvl1pPr>
            <a:lvl2pPr>
              <a:defRPr sz="2100" b="1">
                <a:solidFill>
                  <a:srgbClr val="172B36"/>
                </a:solidFill>
                <a:latin typeface="Arial"/>
                <a:ea typeface="Arial"/>
                <a:cs typeface="Arial"/>
              </a:defRPr>
            </a:lvl2pPr>
            <a:lvl3pPr>
              <a:defRPr sz="2100" b="1">
                <a:solidFill>
                  <a:srgbClr val="172B36"/>
                </a:solidFill>
                <a:latin typeface="Arial"/>
                <a:ea typeface="Arial"/>
                <a:cs typeface="Arial"/>
              </a:defRPr>
            </a:lvl3pPr>
            <a:lvl4pPr>
              <a:defRPr sz="2100" b="1">
                <a:solidFill>
                  <a:srgbClr val="172B36"/>
                </a:solidFill>
                <a:latin typeface="Arial"/>
                <a:ea typeface="Arial"/>
                <a:cs typeface="Arial"/>
              </a:defRPr>
            </a:lvl4pPr>
            <a:lvl5pPr>
              <a:defRPr sz="2100" b="1">
                <a:solidFill>
                  <a:srgbClr val="172B36"/>
                </a:solidFill>
                <a:latin typeface="Arial"/>
                <a:ea typeface="Arial"/>
                <a:cs typeface="Arial"/>
              </a:defRPr>
            </a:lvl5pPr>
            <a:lvl6pPr>
              <a:defRPr sz="2100" b="1">
                <a:solidFill>
                  <a:srgbClr val="172B36"/>
                </a:solidFill>
                <a:latin typeface="Arial"/>
                <a:ea typeface="Arial"/>
                <a:cs typeface="Arial"/>
              </a:defRPr>
            </a:lvl6pPr>
            <a:lvl7pPr>
              <a:defRPr sz="2100" b="1">
                <a:solidFill>
                  <a:srgbClr val="172B36"/>
                </a:solidFill>
                <a:latin typeface="Arial"/>
                <a:ea typeface="Arial"/>
                <a:cs typeface="Arial"/>
              </a:defRPr>
            </a:lvl7pPr>
            <a:lvl8pPr>
              <a:defRPr sz="2100" b="1">
                <a:solidFill>
                  <a:srgbClr val="172B36"/>
                </a:solidFill>
                <a:latin typeface="Arial"/>
                <a:ea typeface="Arial"/>
                <a:cs typeface="Arial"/>
              </a:defRPr>
            </a:lvl8pPr>
            <a:lvl9pPr>
              <a:defRPr sz="2100" b="1">
                <a:solidFill>
                  <a:srgbClr val="172B36"/>
                </a:solidFill>
                <a:latin typeface="Arial"/>
                <a:ea typeface="Arial"/>
                <a:cs typeface="Arial"/>
              </a:defRPr>
            </a:lvl9pPr>
          </a:lstStyle>
          <a:p xmlns:a="http://schemas.openxmlformats.org/drawingml/2006/main">
            <a:pPr>
              <a:defRPr sz="2100" b="1">
                <a:solidFill>
                  <a:srgbClr val="172B36"/>
                </a:solidFill>
                <a:latin typeface="Arial"/>
                <a:ea typeface="Arial"/>
                <a:cs typeface="Arial"/>
              </a:defRPr>
            </a:pPr>
            <a:r>
              <a:rPr sz="2100" b="1">
                <a:solidFill>
                  <a:srgbClr val="172B36"/>
                </a:solidFill>
                <a:latin typeface="Arial"/>
                <a:ea typeface="Arial"/>
                <a:cs typeface="Arial"/>
              </a:rPr>
              <a:t>Tactical safeguards</a:t>
            </a:r>
          </a:p>
        </p:txBody>
      </p:sp>
      <p:sp>
        <p:nvSpPr>
          <p:cNvPr id="15" name="detail-3">
            <a:extLst xmlns:a="http://schemas.openxmlformats.org/drawingml/2006/main">
              <a:ext uri="{FF2B5EF4-FFF2-40B4-BE49-F238E27FC236}">
                <a16:creationId xmlns:a16="http://schemas.microsoft.com/office/drawing/2014/main" id="{535E9CB0-BE29-410C-93D9-52C92CCDF20A}"/>
              </a:ext>
            </a:extLst>
          </p:cNvPr>
          <p:cNvSpPr>
            <a:spLocks xmlns:a="http://schemas.openxmlformats.org/drawingml/2006/main" noGrp="1"/>
          </p:cNvSpPr>
          <p:nvPr/>
        </p:nvSpPr>
        <p:spPr>
          <a:xfrm xmlns:a="http://schemas.openxmlformats.org/drawingml/2006/main">
            <a:off x="5286375" y="5114925"/>
            <a:ext cx="621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2636E"/>
                </a:solidFill>
                <a:latin typeface="Arial"/>
                <a:ea typeface="Arial"/>
                <a:cs typeface="Arial"/>
              </a:defRPr>
            </a:defPPr>
            <a:lvl1pPr>
              <a:defRPr sz="1950" b="0">
                <a:solidFill>
                  <a:srgbClr val="52636E"/>
                </a:solidFill>
                <a:latin typeface="Arial"/>
                <a:ea typeface="Arial"/>
                <a:cs typeface="Arial"/>
              </a:defRPr>
            </a:lvl1pPr>
            <a:lvl2pPr>
              <a:defRPr sz="1950" b="0">
                <a:solidFill>
                  <a:srgbClr val="52636E"/>
                </a:solidFill>
                <a:latin typeface="Arial"/>
                <a:ea typeface="Arial"/>
                <a:cs typeface="Arial"/>
              </a:defRPr>
            </a:lvl2pPr>
            <a:lvl3pPr>
              <a:defRPr sz="1950" b="0">
                <a:solidFill>
                  <a:srgbClr val="52636E"/>
                </a:solidFill>
                <a:latin typeface="Arial"/>
                <a:ea typeface="Arial"/>
                <a:cs typeface="Arial"/>
              </a:defRPr>
            </a:lvl3pPr>
            <a:lvl4pPr>
              <a:defRPr sz="1950" b="0">
                <a:solidFill>
                  <a:srgbClr val="52636E"/>
                </a:solidFill>
                <a:latin typeface="Arial"/>
                <a:ea typeface="Arial"/>
                <a:cs typeface="Arial"/>
              </a:defRPr>
            </a:lvl4pPr>
            <a:lvl5pPr>
              <a:defRPr sz="1950" b="0">
                <a:solidFill>
                  <a:srgbClr val="52636E"/>
                </a:solidFill>
                <a:latin typeface="Arial"/>
                <a:ea typeface="Arial"/>
                <a:cs typeface="Arial"/>
              </a:defRPr>
            </a:lvl5pPr>
            <a:lvl6pPr>
              <a:defRPr sz="1950" b="0">
                <a:solidFill>
                  <a:srgbClr val="52636E"/>
                </a:solidFill>
                <a:latin typeface="Arial"/>
                <a:ea typeface="Arial"/>
                <a:cs typeface="Arial"/>
              </a:defRPr>
            </a:lvl6pPr>
            <a:lvl7pPr>
              <a:defRPr sz="1950" b="0">
                <a:solidFill>
                  <a:srgbClr val="52636E"/>
                </a:solidFill>
                <a:latin typeface="Arial"/>
                <a:ea typeface="Arial"/>
                <a:cs typeface="Arial"/>
              </a:defRPr>
            </a:lvl7pPr>
            <a:lvl8pPr>
              <a:defRPr sz="1950" b="0">
                <a:solidFill>
                  <a:srgbClr val="52636E"/>
                </a:solidFill>
                <a:latin typeface="Arial"/>
                <a:ea typeface="Arial"/>
                <a:cs typeface="Arial"/>
              </a:defRPr>
            </a:lvl8pPr>
            <a:lvl9pPr>
              <a:defRPr sz="1950" b="0">
                <a:solidFill>
                  <a:srgbClr val="52636E"/>
                </a:solidFill>
                <a:latin typeface="Arial"/>
                <a:ea typeface="Arial"/>
                <a:cs typeface="Arial"/>
              </a:defRPr>
            </a:lvl9pPr>
          </a:lstStyle>
          <a:p xmlns:a="http://schemas.openxmlformats.org/drawingml/2006/main">
            <a:pPr>
              <a:defRPr sz="1950" b="0">
                <a:solidFill>
                  <a:srgbClr val="52636E"/>
                </a:solidFill>
                <a:latin typeface="Arial"/>
                <a:ea typeface="Arial"/>
                <a:cs typeface="Arial"/>
              </a:defRPr>
            </a:pPr>
            <a:r>
              <a:rPr sz="1950" b="0">
                <a:solidFill>
                  <a:srgbClr val="52636E"/>
                </a:solidFill>
                <a:latin typeface="Arial"/>
                <a:ea typeface="Arial"/>
                <a:cs typeface="Arial"/>
              </a:rPr>
              <a:t>Prioritize winning builds and bank-trade sequences. Fall back at low clock.</a:t>
            </a:r>
          </a:p>
        </p:txBody>
      </p:sp>
    </p:spTree>
    <p:extLst>
      <p:ext uri="{BB962C8B-B14F-4D97-AF65-F5344CB8AC3E}">
        <p14:creationId xmlns:p14="http://schemas.microsoft.com/office/powerpoint/2010/main" val="15986647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47DCCBE8-908C-4878-A52E-C9820B8CB90C}"/>
              </a:ext>
            </a:extLst>
          </p:cNvPr>
          <p:cNvSpPr>
            <a:spLocks xmlns:a="http://schemas.openxmlformats.org/drawingml/2006/main" noGrp="1"/>
          </p:cNvSpPr>
          <p:nvPr/>
        </p:nvSpPr>
        <p:spPr>
          <a:xfrm xmlns:a="http://schemas.openxmlformats.org/drawingml/2006/main">
            <a:off x="685800" y="5048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B36"/>
                </a:solidFill>
                <a:latin typeface="Arial"/>
                <a:ea typeface="Arial"/>
                <a:cs typeface="Arial"/>
              </a:defRPr>
            </a:defPPr>
            <a:lvl1pPr>
              <a:defRPr sz="3450" b="1">
                <a:solidFill>
                  <a:srgbClr val="172B36"/>
                </a:solidFill>
                <a:latin typeface="Arial"/>
                <a:ea typeface="Arial"/>
                <a:cs typeface="Arial"/>
              </a:defRPr>
            </a:lvl1pPr>
            <a:lvl2pPr>
              <a:defRPr sz="3450" b="1">
                <a:solidFill>
                  <a:srgbClr val="172B36"/>
                </a:solidFill>
                <a:latin typeface="Arial"/>
                <a:ea typeface="Arial"/>
                <a:cs typeface="Arial"/>
              </a:defRPr>
            </a:lvl2pPr>
            <a:lvl3pPr>
              <a:defRPr sz="3450" b="1">
                <a:solidFill>
                  <a:srgbClr val="172B36"/>
                </a:solidFill>
                <a:latin typeface="Arial"/>
                <a:ea typeface="Arial"/>
                <a:cs typeface="Arial"/>
              </a:defRPr>
            </a:lvl3pPr>
            <a:lvl4pPr>
              <a:defRPr sz="3450" b="1">
                <a:solidFill>
                  <a:srgbClr val="172B36"/>
                </a:solidFill>
                <a:latin typeface="Arial"/>
                <a:ea typeface="Arial"/>
                <a:cs typeface="Arial"/>
              </a:defRPr>
            </a:lvl4pPr>
            <a:lvl5pPr>
              <a:defRPr sz="3450" b="1">
                <a:solidFill>
                  <a:srgbClr val="172B36"/>
                </a:solidFill>
                <a:latin typeface="Arial"/>
                <a:ea typeface="Arial"/>
                <a:cs typeface="Arial"/>
              </a:defRPr>
            </a:lvl5pPr>
            <a:lvl6pPr>
              <a:defRPr sz="3450" b="1">
                <a:solidFill>
                  <a:srgbClr val="172B36"/>
                </a:solidFill>
                <a:latin typeface="Arial"/>
                <a:ea typeface="Arial"/>
                <a:cs typeface="Arial"/>
              </a:defRPr>
            </a:lvl6pPr>
            <a:lvl7pPr>
              <a:defRPr sz="3450" b="1">
                <a:solidFill>
                  <a:srgbClr val="172B36"/>
                </a:solidFill>
                <a:latin typeface="Arial"/>
                <a:ea typeface="Arial"/>
                <a:cs typeface="Arial"/>
              </a:defRPr>
            </a:lvl7pPr>
            <a:lvl8pPr>
              <a:defRPr sz="3450" b="1">
                <a:solidFill>
                  <a:srgbClr val="172B36"/>
                </a:solidFill>
                <a:latin typeface="Arial"/>
                <a:ea typeface="Arial"/>
                <a:cs typeface="Arial"/>
              </a:defRPr>
            </a:lvl8pPr>
            <a:lvl9pPr>
              <a:defRPr sz="3450" b="1">
                <a:solidFill>
                  <a:srgbClr val="172B36"/>
                </a:solidFill>
                <a:latin typeface="Arial"/>
                <a:ea typeface="Arial"/>
                <a:cs typeface="Arial"/>
              </a:defRPr>
            </a:lvl9pPr>
          </a:lstStyle>
          <a:p xmlns:a="http://schemas.openxmlformats.org/drawingml/2006/main">
            <a:pPr>
              <a:defRPr sz="3450" b="1">
                <a:solidFill>
                  <a:srgbClr val="172B36"/>
                </a:solidFill>
                <a:latin typeface="Arial"/>
                <a:ea typeface="Arial"/>
                <a:cs typeface="Arial"/>
              </a:defRPr>
            </a:pPr>
            <a:r>
              <a:rPr sz="3450" b="1">
                <a:solidFill>
                  <a:srgbClr val="172B36"/>
                </a:solidFill>
                <a:latin typeface="Arial"/>
                <a:ea typeface="Arial"/>
                <a:cs typeface="Arial"/>
              </a:rPr>
              <a:t>Learning a small value model</a:t>
            </a:r>
          </a:p>
        </p:txBody>
      </p:sp>
      <p:sp>
        <p:nvSpPr>
          <p:cNvPr id="2" name="page-number">
            <a:extLst xmlns:a="http://schemas.openxmlformats.org/drawingml/2006/main">
              <a:ext uri="{FF2B5EF4-FFF2-40B4-BE49-F238E27FC236}">
                <a16:creationId xmlns:a16="http://schemas.microsoft.com/office/drawing/2014/main" id="{3E9195A1-BD19-43F2-A739-6428B67F4170}"/>
              </a:ext>
            </a:extLst>
          </p:cNvPr>
          <p:cNvSpPr>
            <a:spLocks xmlns:a="http://schemas.openxmlformats.org/drawingml/2006/main" noGrp="1"/>
          </p:cNvSpPr>
          <p:nvPr/>
        </p:nvSpPr>
        <p:spPr>
          <a:xfrm xmlns:a="http://schemas.openxmlformats.org/drawingml/2006/main">
            <a:off x="11049000" y="63246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36E"/>
                </a:solidFill>
                <a:latin typeface="Arial"/>
                <a:ea typeface="Arial"/>
                <a:cs typeface="Arial"/>
              </a:defRPr>
            </a:defPPr>
            <a:lvl1pPr>
              <a:defRPr sz="1725" b="0">
                <a:solidFill>
                  <a:srgbClr val="52636E"/>
                </a:solidFill>
                <a:latin typeface="Arial"/>
                <a:ea typeface="Arial"/>
                <a:cs typeface="Arial"/>
              </a:defRPr>
            </a:lvl1pPr>
            <a:lvl2pPr>
              <a:defRPr sz="1725" b="0">
                <a:solidFill>
                  <a:srgbClr val="52636E"/>
                </a:solidFill>
                <a:latin typeface="Arial"/>
                <a:ea typeface="Arial"/>
                <a:cs typeface="Arial"/>
              </a:defRPr>
            </a:lvl2pPr>
            <a:lvl3pPr>
              <a:defRPr sz="1725" b="0">
                <a:solidFill>
                  <a:srgbClr val="52636E"/>
                </a:solidFill>
                <a:latin typeface="Arial"/>
                <a:ea typeface="Arial"/>
                <a:cs typeface="Arial"/>
              </a:defRPr>
            </a:lvl3pPr>
            <a:lvl4pPr>
              <a:defRPr sz="1725" b="0">
                <a:solidFill>
                  <a:srgbClr val="52636E"/>
                </a:solidFill>
                <a:latin typeface="Arial"/>
                <a:ea typeface="Arial"/>
                <a:cs typeface="Arial"/>
              </a:defRPr>
            </a:lvl4pPr>
            <a:lvl5pPr>
              <a:defRPr sz="1725" b="0">
                <a:solidFill>
                  <a:srgbClr val="52636E"/>
                </a:solidFill>
                <a:latin typeface="Arial"/>
                <a:ea typeface="Arial"/>
                <a:cs typeface="Arial"/>
              </a:defRPr>
            </a:lvl5pPr>
            <a:lvl6pPr>
              <a:defRPr sz="1725" b="0">
                <a:solidFill>
                  <a:srgbClr val="52636E"/>
                </a:solidFill>
                <a:latin typeface="Arial"/>
                <a:ea typeface="Arial"/>
                <a:cs typeface="Arial"/>
              </a:defRPr>
            </a:lvl6pPr>
            <a:lvl7pPr>
              <a:defRPr sz="1725" b="0">
                <a:solidFill>
                  <a:srgbClr val="52636E"/>
                </a:solidFill>
                <a:latin typeface="Arial"/>
                <a:ea typeface="Arial"/>
                <a:cs typeface="Arial"/>
              </a:defRPr>
            </a:lvl7pPr>
            <a:lvl8pPr>
              <a:defRPr sz="1725" b="0">
                <a:solidFill>
                  <a:srgbClr val="52636E"/>
                </a:solidFill>
                <a:latin typeface="Arial"/>
                <a:ea typeface="Arial"/>
                <a:cs typeface="Arial"/>
              </a:defRPr>
            </a:lvl8pPr>
            <a:lvl9pPr>
              <a:defRPr sz="1725" b="0">
                <a:solidFill>
                  <a:srgbClr val="52636E"/>
                </a:solidFill>
                <a:latin typeface="Arial"/>
                <a:ea typeface="Arial"/>
                <a:cs typeface="Arial"/>
              </a:defRPr>
            </a:lvl9pPr>
          </a:lstStyle>
          <a:p xmlns:a="http://schemas.openxmlformats.org/drawingml/2006/main">
            <a:pPr>
              <a:defRPr sz="1725" b="0">
                <a:solidFill>
                  <a:srgbClr val="52636E"/>
                </a:solidFill>
                <a:latin typeface="Arial"/>
                <a:ea typeface="Arial"/>
                <a:cs typeface="Arial"/>
              </a:defRPr>
            </a:pPr>
            <a:r>
              <a:rPr sz="1725" b="0">
                <a:solidFill>
                  <a:srgbClr val="52636E"/>
                </a:solidFill>
                <a:latin typeface="Arial"/>
                <a:ea typeface="Arial"/>
                <a:cs typeface="Arial"/>
              </a:rPr>
              <a:t>3</a:t>
            </a:r>
          </a:p>
        </p:txBody>
      </p:sp>
      <p:sp>
        <p:nvSpPr>
          <p:cNvPr id="3" name="data-number">
            <a:extLst xmlns:a="http://schemas.openxmlformats.org/drawingml/2006/main">
              <a:ext uri="{FF2B5EF4-FFF2-40B4-BE49-F238E27FC236}">
                <a16:creationId xmlns:a16="http://schemas.microsoft.com/office/drawing/2014/main" id="{A91981E1-0F8C-4A7D-9269-26E6E338939B}"/>
              </a:ext>
            </a:extLst>
          </p:cNvPr>
          <p:cNvSpPr>
            <a:spLocks xmlns:a="http://schemas.openxmlformats.org/drawingml/2006/main" noGrp="1"/>
          </p:cNvSpPr>
          <p:nvPr/>
        </p:nvSpPr>
        <p:spPr>
          <a:xfrm xmlns:a="http://schemas.openxmlformats.org/drawingml/2006/main">
            <a:off x="685800" y="1733550"/>
            <a:ext cx="5715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0C7C86"/>
                </a:solidFill>
                <a:latin typeface="Arial"/>
                <a:ea typeface="Arial"/>
                <a:cs typeface="Arial"/>
              </a:defRPr>
            </a:defPPr>
            <a:lvl1pPr>
              <a:defRPr sz="5700" b="1">
                <a:solidFill>
                  <a:srgbClr val="0C7C86"/>
                </a:solidFill>
                <a:latin typeface="Arial"/>
                <a:ea typeface="Arial"/>
                <a:cs typeface="Arial"/>
              </a:defRPr>
            </a:lvl1pPr>
            <a:lvl2pPr>
              <a:defRPr sz="5700" b="1">
                <a:solidFill>
                  <a:srgbClr val="0C7C86"/>
                </a:solidFill>
                <a:latin typeface="Arial"/>
                <a:ea typeface="Arial"/>
                <a:cs typeface="Arial"/>
              </a:defRPr>
            </a:lvl2pPr>
            <a:lvl3pPr>
              <a:defRPr sz="5700" b="1">
                <a:solidFill>
                  <a:srgbClr val="0C7C86"/>
                </a:solidFill>
                <a:latin typeface="Arial"/>
                <a:ea typeface="Arial"/>
                <a:cs typeface="Arial"/>
              </a:defRPr>
            </a:lvl3pPr>
            <a:lvl4pPr>
              <a:defRPr sz="5700" b="1">
                <a:solidFill>
                  <a:srgbClr val="0C7C86"/>
                </a:solidFill>
                <a:latin typeface="Arial"/>
                <a:ea typeface="Arial"/>
                <a:cs typeface="Arial"/>
              </a:defRPr>
            </a:lvl4pPr>
            <a:lvl5pPr>
              <a:defRPr sz="5700" b="1">
                <a:solidFill>
                  <a:srgbClr val="0C7C86"/>
                </a:solidFill>
                <a:latin typeface="Arial"/>
                <a:ea typeface="Arial"/>
                <a:cs typeface="Arial"/>
              </a:defRPr>
            </a:lvl5pPr>
            <a:lvl6pPr>
              <a:defRPr sz="5700" b="1">
                <a:solidFill>
                  <a:srgbClr val="0C7C86"/>
                </a:solidFill>
                <a:latin typeface="Arial"/>
                <a:ea typeface="Arial"/>
                <a:cs typeface="Arial"/>
              </a:defRPr>
            </a:lvl6pPr>
            <a:lvl7pPr>
              <a:defRPr sz="5700" b="1">
                <a:solidFill>
                  <a:srgbClr val="0C7C86"/>
                </a:solidFill>
                <a:latin typeface="Arial"/>
                <a:ea typeface="Arial"/>
                <a:cs typeface="Arial"/>
              </a:defRPr>
            </a:lvl7pPr>
            <a:lvl8pPr>
              <a:defRPr sz="5700" b="1">
                <a:solidFill>
                  <a:srgbClr val="0C7C86"/>
                </a:solidFill>
                <a:latin typeface="Arial"/>
                <a:ea typeface="Arial"/>
                <a:cs typeface="Arial"/>
              </a:defRPr>
            </a:lvl8pPr>
            <a:lvl9pPr>
              <a:defRPr sz="5700" b="1">
                <a:solidFill>
                  <a:srgbClr val="0C7C86"/>
                </a:solidFill>
                <a:latin typeface="Arial"/>
                <a:ea typeface="Arial"/>
                <a:cs typeface="Arial"/>
              </a:defRPr>
            </a:lvl9pPr>
          </a:lstStyle>
          <a:p xmlns:a="http://schemas.openxmlformats.org/drawingml/2006/main">
            <a:pPr>
              <a:defRPr sz="5700" b="1">
                <a:solidFill>
                  <a:srgbClr val="0C7C86"/>
                </a:solidFill>
                <a:latin typeface="Arial"/>
                <a:ea typeface="Arial"/>
                <a:cs typeface="Arial"/>
              </a:defRPr>
            </a:pPr>
            <a:r>
              <a:rPr sz="5700" b="1">
                <a:solidFill>
                  <a:srgbClr val="0C7C86"/>
                </a:solidFill>
                <a:latin typeface="Arial"/>
                <a:ea typeface="Arial"/>
                <a:cs typeface="Arial"/>
              </a:rPr>
              <a:t>124,344</a:t>
            </a:r>
          </a:p>
        </p:txBody>
      </p:sp>
      <p:sp>
        <p:nvSpPr>
          <p:cNvPr id="4" name="data-label">
            <a:extLst xmlns:a="http://schemas.openxmlformats.org/drawingml/2006/main">
              <a:ext uri="{FF2B5EF4-FFF2-40B4-BE49-F238E27FC236}">
                <a16:creationId xmlns:a16="http://schemas.microsoft.com/office/drawing/2014/main" id="{6C3EA834-B2B9-4625-8B5D-BC2B05407709}"/>
              </a:ext>
            </a:extLst>
          </p:cNvPr>
          <p:cNvSpPr>
            <a:spLocks xmlns:a="http://schemas.openxmlformats.org/drawingml/2006/main" noGrp="1"/>
          </p:cNvSpPr>
          <p:nvPr/>
        </p:nvSpPr>
        <p:spPr>
          <a:xfrm xmlns:a="http://schemas.openxmlformats.org/drawingml/2006/main">
            <a:off x="723900" y="2724150"/>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B36"/>
                </a:solidFill>
                <a:latin typeface="Arial"/>
                <a:ea typeface="Arial"/>
                <a:cs typeface="Arial"/>
              </a:defRPr>
            </a:defPPr>
            <a:lvl1pPr>
              <a:defRPr sz="2025" b="0">
                <a:solidFill>
                  <a:srgbClr val="172B36"/>
                </a:solidFill>
                <a:latin typeface="Arial"/>
                <a:ea typeface="Arial"/>
                <a:cs typeface="Arial"/>
              </a:defRPr>
            </a:lvl1pPr>
            <a:lvl2pPr>
              <a:defRPr sz="2025" b="0">
                <a:solidFill>
                  <a:srgbClr val="172B36"/>
                </a:solidFill>
                <a:latin typeface="Arial"/>
                <a:ea typeface="Arial"/>
                <a:cs typeface="Arial"/>
              </a:defRPr>
            </a:lvl2pPr>
            <a:lvl3pPr>
              <a:defRPr sz="2025" b="0">
                <a:solidFill>
                  <a:srgbClr val="172B36"/>
                </a:solidFill>
                <a:latin typeface="Arial"/>
                <a:ea typeface="Arial"/>
                <a:cs typeface="Arial"/>
              </a:defRPr>
            </a:lvl3pPr>
            <a:lvl4pPr>
              <a:defRPr sz="2025" b="0">
                <a:solidFill>
                  <a:srgbClr val="172B36"/>
                </a:solidFill>
                <a:latin typeface="Arial"/>
                <a:ea typeface="Arial"/>
                <a:cs typeface="Arial"/>
              </a:defRPr>
            </a:lvl4pPr>
            <a:lvl5pPr>
              <a:defRPr sz="2025" b="0">
                <a:solidFill>
                  <a:srgbClr val="172B36"/>
                </a:solidFill>
                <a:latin typeface="Arial"/>
                <a:ea typeface="Arial"/>
                <a:cs typeface="Arial"/>
              </a:defRPr>
            </a:lvl5pPr>
            <a:lvl6pPr>
              <a:defRPr sz="2025" b="0">
                <a:solidFill>
                  <a:srgbClr val="172B36"/>
                </a:solidFill>
                <a:latin typeface="Arial"/>
                <a:ea typeface="Arial"/>
                <a:cs typeface="Arial"/>
              </a:defRPr>
            </a:lvl6pPr>
            <a:lvl7pPr>
              <a:defRPr sz="2025" b="0">
                <a:solidFill>
                  <a:srgbClr val="172B36"/>
                </a:solidFill>
                <a:latin typeface="Arial"/>
                <a:ea typeface="Arial"/>
                <a:cs typeface="Arial"/>
              </a:defRPr>
            </a:lvl7pPr>
            <a:lvl8pPr>
              <a:defRPr sz="2025" b="0">
                <a:solidFill>
                  <a:srgbClr val="172B36"/>
                </a:solidFill>
                <a:latin typeface="Arial"/>
                <a:ea typeface="Arial"/>
                <a:cs typeface="Arial"/>
              </a:defRPr>
            </a:lvl8pPr>
            <a:lvl9pPr>
              <a:defRPr sz="2025" b="0">
                <a:solidFill>
                  <a:srgbClr val="172B36"/>
                </a:solidFill>
                <a:latin typeface="Arial"/>
                <a:ea typeface="Arial"/>
                <a:cs typeface="Arial"/>
              </a:defRPr>
            </a:lvl9pPr>
          </a:lstStyle>
          <a:p xmlns:a="http://schemas.openxmlformats.org/drawingml/2006/main">
            <a:pPr>
              <a:defRPr sz="2025" b="0">
                <a:solidFill>
                  <a:srgbClr val="172B36"/>
                </a:solidFill>
                <a:latin typeface="Arial"/>
                <a:ea typeface="Arial"/>
                <a:cs typeface="Arial"/>
              </a:defRPr>
            </a:pPr>
            <a:r>
              <a:rPr sz="2025" b="0">
                <a:solidFill>
                  <a:srgbClr val="172B36"/>
                </a:solidFill>
                <a:latin typeface="Arial"/>
                <a:ea typeface="Arial"/>
                <a:cs typeface="Arial"/>
              </a:rPr>
              <a:t>Labeled positions from 1,000 simulated games</a:t>
            </a:r>
          </a:p>
        </p:txBody>
      </p:sp>
      <p:sp>
        <p:nvSpPr>
          <p:cNvPr id="5" name="model-number">
            <a:extLst xmlns:a="http://schemas.openxmlformats.org/drawingml/2006/main">
              <a:ext uri="{FF2B5EF4-FFF2-40B4-BE49-F238E27FC236}">
                <a16:creationId xmlns:a16="http://schemas.microsoft.com/office/drawing/2014/main" id="{C80DB37F-7DE9-4A72-842B-C6EECD229453}"/>
              </a:ext>
            </a:extLst>
          </p:cNvPr>
          <p:cNvSpPr>
            <a:spLocks xmlns:a="http://schemas.openxmlformats.org/drawingml/2006/main" noGrp="1"/>
          </p:cNvSpPr>
          <p:nvPr/>
        </p:nvSpPr>
        <p:spPr>
          <a:xfrm xmlns:a="http://schemas.openxmlformats.org/drawingml/2006/main">
            <a:off x="7239000" y="1733550"/>
            <a:ext cx="4267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0C7C86"/>
                </a:solidFill>
                <a:latin typeface="Arial"/>
                <a:ea typeface="Arial"/>
                <a:cs typeface="Arial"/>
              </a:defRPr>
            </a:defPPr>
            <a:lvl1pPr>
              <a:defRPr sz="4800" b="1">
                <a:solidFill>
                  <a:srgbClr val="0C7C86"/>
                </a:solidFill>
                <a:latin typeface="Arial"/>
                <a:ea typeface="Arial"/>
                <a:cs typeface="Arial"/>
              </a:defRPr>
            </a:lvl1pPr>
            <a:lvl2pPr>
              <a:defRPr sz="4800" b="1">
                <a:solidFill>
                  <a:srgbClr val="0C7C86"/>
                </a:solidFill>
                <a:latin typeface="Arial"/>
                <a:ea typeface="Arial"/>
                <a:cs typeface="Arial"/>
              </a:defRPr>
            </a:lvl2pPr>
            <a:lvl3pPr>
              <a:defRPr sz="4800" b="1">
                <a:solidFill>
                  <a:srgbClr val="0C7C86"/>
                </a:solidFill>
                <a:latin typeface="Arial"/>
                <a:ea typeface="Arial"/>
                <a:cs typeface="Arial"/>
              </a:defRPr>
            </a:lvl3pPr>
            <a:lvl4pPr>
              <a:defRPr sz="4800" b="1">
                <a:solidFill>
                  <a:srgbClr val="0C7C86"/>
                </a:solidFill>
                <a:latin typeface="Arial"/>
                <a:ea typeface="Arial"/>
                <a:cs typeface="Arial"/>
              </a:defRPr>
            </a:lvl4pPr>
            <a:lvl5pPr>
              <a:defRPr sz="4800" b="1">
                <a:solidFill>
                  <a:srgbClr val="0C7C86"/>
                </a:solidFill>
                <a:latin typeface="Arial"/>
                <a:ea typeface="Arial"/>
                <a:cs typeface="Arial"/>
              </a:defRPr>
            </a:lvl5pPr>
            <a:lvl6pPr>
              <a:defRPr sz="4800" b="1">
                <a:solidFill>
                  <a:srgbClr val="0C7C86"/>
                </a:solidFill>
                <a:latin typeface="Arial"/>
                <a:ea typeface="Arial"/>
                <a:cs typeface="Arial"/>
              </a:defRPr>
            </a:lvl6pPr>
            <a:lvl7pPr>
              <a:defRPr sz="4800" b="1">
                <a:solidFill>
                  <a:srgbClr val="0C7C86"/>
                </a:solidFill>
                <a:latin typeface="Arial"/>
                <a:ea typeface="Arial"/>
                <a:cs typeface="Arial"/>
              </a:defRPr>
            </a:lvl7pPr>
            <a:lvl8pPr>
              <a:defRPr sz="4800" b="1">
                <a:solidFill>
                  <a:srgbClr val="0C7C86"/>
                </a:solidFill>
                <a:latin typeface="Arial"/>
                <a:ea typeface="Arial"/>
                <a:cs typeface="Arial"/>
              </a:defRPr>
            </a:lvl8pPr>
            <a:lvl9pPr>
              <a:defRPr sz="4800" b="1">
                <a:solidFill>
                  <a:srgbClr val="0C7C86"/>
                </a:solidFill>
                <a:latin typeface="Arial"/>
                <a:ea typeface="Arial"/>
                <a:cs typeface="Arial"/>
              </a:defRPr>
            </a:lvl9pPr>
          </a:lstStyle>
          <a:p xmlns:a="http://schemas.openxmlformats.org/drawingml/2006/main">
            <a:pPr>
              <a:defRPr sz="4800" b="1">
                <a:solidFill>
                  <a:srgbClr val="0C7C86"/>
                </a:solidFill>
                <a:latin typeface="Arial"/>
                <a:ea typeface="Arial"/>
                <a:cs typeface="Arial"/>
              </a:defRPr>
            </a:pPr>
            <a:r>
              <a:rPr sz="4800" b="1">
                <a:solidFill>
                  <a:srgbClr val="0C7C86"/>
                </a:solidFill>
                <a:latin typeface="Arial"/>
                <a:ea typeface="Arial"/>
                <a:cs typeface="Arial"/>
              </a:rPr>
              <a:t>64 trees</a:t>
            </a:r>
          </a:p>
        </p:txBody>
      </p:sp>
      <p:sp>
        <p:nvSpPr>
          <p:cNvPr id="6" name="model-label">
            <a:extLst xmlns:a="http://schemas.openxmlformats.org/drawingml/2006/main">
              <a:ext uri="{FF2B5EF4-FFF2-40B4-BE49-F238E27FC236}">
                <a16:creationId xmlns:a16="http://schemas.microsoft.com/office/drawing/2014/main" id="{23672C99-A901-449C-B05A-6EA07E125804}"/>
              </a:ext>
            </a:extLst>
          </p:cNvPr>
          <p:cNvSpPr>
            <a:spLocks xmlns:a="http://schemas.openxmlformats.org/drawingml/2006/main" noGrp="1"/>
          </p:cNvSpPr>
          <p:nvPr/>
        </p:nvSpPr>
        <p:spPr>
          <a:xfrm xmlns:a="http://schemas.openxmlformats.org/drawingml/2006/main">
            <a:off x="7277100" y="2724150"/>
            <a:ext cx="4229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B36"/>
                </a:solidFill>
                <a:latin typeface="Arial"/>
                <a:ea typeface="Arial"/>
                <a:cs typeface="Arial"/>
              </a:defRPr>
            </a:defPPr>
            <a:lvl1pPr>
              <a:defRPr sz="2025" b="0">
                <a:solidFill>
                  <a:srgbClr val="172B36"/>
                </a:solidFill>
                <a:latin typeface="Arial"/>
                <a:ea typeface="Arial"/>
                <a:cs typeface="Arial"/>
              </a:defRPr>
            </a:lvl1pPr>
            <a:lvl2pPr>
              <a:defRPr sz="2025" b="0">
                <a:solidFill>
                  <a:srgbClr val="172B36"/>
                </a:solidFill>
                <a:latin typeface="Arial"/>
                <a:ea typeface="Arial"/>
                <a:cs typeface="Arial"/>
              </a:defRPr>
            </a:lvl2pPr>
            <a:lvl3pPr>
              <a:defRPr sz="2025" b="0">
                <a:solidFill>
                  <a:srgbClr val="172B36"/>
                </a:solidFill>
                <a:latin typeface="Arial"/>
                <a:ea typeface="Arial"/>
                <a:cs typeface="Arial"/>
              </a:defRPr>
            </a:lvl3pPr>
            <a:lvl4pPr>
              <a:defRPr sz="2025" b="0">
                <a:solidFill>
                  <a:srgbClr val="172B36"/>
                </a:solidFill>
                <a:latin typeface="Arial"/>
                <a:ea typeface="Arial"/>
                <a:cs typeface="Arial"/>
              </a:defRPr>
            </a:lvl4pPr>
            <a:lvl5pPr>
              <a:defRPr sz="2025" b="0">
                <a:solidFill>
                  <a:srgbClr val="172B36"/>
                </a:solidFill>
                <a:latin typeface="Arial"/>
                <a:ea typeface="Arial"/>
                <a:cs typeface="Arial"/>
              </a:defRPr>
            </a:lvl5pPr>
            <a:lvl6pPr>
              <a:defRPr sz="2025" b="0">
                <a:solidFill>
                  <a:srgbClr val="172B36"/>
                </a:solidFill>
                <a:latin typeface="Arial"/>
                <a:ea typeface="Arial"/>
                <a:cs typeface="Arial"/>
              </a:defRPr>
            </a:lvl6pPr>
            <a:lvl7pPr>
              <a:defRPr sz="2025" b="0">
                <a:solidFill>
                  <a:srgbClr val="172B36"/>
                </a:solidFill>
                <a:latin typeface="Arial"/>
                <a:ea typeface="Arial"/>
                <a:cs typeface="Arial"/>
              </a:defRPr>
            </a:lvl7pPr>
            <a:lvl8pPr>
              <a:defRPr sz="2025" b="0">
                <a:solidFill>
                  <a:srgbClr val="172B36"/>
                </a:solidFill>
                <a:latin typeface="Arial"/>
                <a:ea typeface="Arial"/>
                <a:cs typeface="Arial"/>
              </a:defRPr>
            </a:lvl8pPr>
            <a:lvl9pPr>
              <a:defRPr sz="2025" b="0">
                <a:solidFill>
                  <a:srgbClr val="172B36"/>
                </a:solidFill>
                <a:latin typeface="Arial"/>
                <a:ea typeface="Arial"/>
                <a:cs typeface="Arial"/>
              </a:defRPr>
            </a:lvl9pPr>
          </a:lstStyle>
          <a:p xmlns:a="http://schemas.openxmlformats.org/drawingml/2006/main">
            <a:pPr>
              <a:defRPr sz="2025" b="0">
                <a:solidFill>
                  <a:srgbClr val="172B36"/>
                </a:solidFill>
                <a:latin typeface="Arial"/>
                <a:ea typeface="Arial"/>
                <a:cs typeface="Arial"/>
              </a:defRPr>
            </a:pPr>
            <a:r>
              <a:rPr sz="2025" b="0">
                <a:solidFill>
                  <a:srgbClr val="172B36"/>
                </a:solidFill>
                <a:latin typeface="Arial"/>
                <a:ea typeface="Arial"/>
                <a:cs typeface="Arial"/>
              </a:rPr>
              <a:t>91 permitted-information features</a:t>
            </a:r>
          </a:p>
          <a:p xmlns:a="http://schemas.openxmlformats.org/drawingml/2006/main">
            <a:pPr>
              <a:defRPr sz="2025" b="0">
                <a:solidFill>
                  <a:srgbClr val="172B36"/>
                </a:solidFill>
                <a:latin typeface="Arial"/>
                <a:ea typeface="Arial"/>
                <a:cs typeface="Arial"/>
              </a:defRPr>
            </a:pPr>
            <a:r>
              <a:rPr sz="2025" b="0">
                <a:solidFill>
                  <a:srgbClr val="172B36"/>
                </a:solidFill>
                <a:latin typeface="Arial"/>
                <a:ea typeface="Arial"/>
                <a:cs typeface="Arial"/>
              </a:rPr>
              <a:t>Depth at most 3</a:t>
            </a:r>
          </a:p>
        </p:txBody>
      </p:sp>
      <p:sp>
        <p:nvSpPr>
          <p:cNvPr id="7" name="split">
            <a:extLst xmlns:a="http://schemas.openxmlformats.org/drawingml/2006/main">
              <a:ext uri="{FF2B5EF4-FFF2-40B4-BE49-F238E27FC236}">
                <a16:creationId xmlns:a16="http://schemas.microsoft.com/office/drawing/2014/main" id="{E1D24CA3-818C-4F4D-9FAB-B1DB4E296ACB}"/>
              </a:ext>
            </a:extLst>
          </p:cNvPr>
          <p:cNvSpPr>
            <a:spLocks xmlns:a="http://schemas.openxmlformats.org/drawingml/2006/main" noGrp="1"/>
          </p:cNvSpPr>
          <p:nvPr/>
        </p:nvSpPr>
        <p:spPr>
          <a:xfrm xmlns:a="http://schemas.openxmlformats.org/drawingml/2006/main">
            <a:off x="723900" y="3867150"/>
            <a:ext cx="10782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36"/>
                </a:solidFill>
                <a:latin typeface="Arial"/>
                <a:ea typeface="Arial"/>
                <a:cs typeface="Arial"/>
              </a:defRPr>
            </a:defPPr>
            <a:lvl1pPr>
              <a:defRPr sz="2100" b="1">
                <a:solidFill>
                  <a:srgbClr val="172B36"/>
                </a:solidFill>
                <a:latin typeface="Arial"/>
                <a:ea typeface="Arial"/>
                <a:cs typeface="Arial"/>
              </a:defRPr>
            </a:lvl1pPr>
            <a:lvl2pPr>
              <a:defRPr sz="2100" b="1">
                <a:solidFill>
                  <a:srgbClr val="172B36"/>
                </a:solidFill>
                <a:latin typeface="Arial"/>
                <a:ea typeface="Arial"/>
                <a:cs typeface="Arial"/>
              </a:defRPr>
            </a:lvl2pPr>
            <a:lvl3pPr>
              <a:defRPr sz="2100" b="1">
                <a:solidFill>
                  <a:srgbClr val="172B36"/>
                </a:solidFill>
                <a:latin typeface="Arial"/>
                <a:ea typeface="Arial"/>
                <a:cs typeface="Arial"/>
              </a:defRPr>
            </a:lvl3pPr>
            <a:lvl4pPr>
              <a:defRPr sz="2100" b="1">
                <a:solidFill>
                  <a:srgbClr val="172B36"/>
                </a:solidFill>
                <a:latin typeface="Arial"/>
                <a:ea typeface="Arial"/>
                <a:cs typeface="Arial"/>
              </a:defRPr>
            </a:lvl4pPr>
            <a:lvl5pPr>
              <a:defRPr sz="2100" b="1">
                <a:solidFill>
                  <a:srgbClr val="172B36"/>
                </a:solidFill>
                <a:latin typeface="Arial"/>
                <a:ea typeface="Arial"/>
                <a:cs typeface="Arial"/>
              </a:defRPr>
            </a:lvl5pPr>
            <a:lvl6pPr>
              <a:defRPr sz="2100" b="1">
                <a:solidFill>
                  <a:srgbClr val="172B36"/>
                </a:solidFill>
                <a:latin typeface="Arial"/>
                <a:ea typeface="Arial"/>
                <a:cs typeface="Arial"/>
              </a:defRPr>
            </a:lvl6pPr>
            <a:lvl7pPr>
              <a:defRPr sz="2100" b="1">
                <a:solidFill>
                  <a:srgbClr val="172B36"/>
                </a:solidFill>
                <a:latin typeface="Arial"/>
                <a:ea typeface="Arial"/>
                <a:cs typeface="Arial"/>
              </a:defRPr>
            </a:lvl7pPr>
            <a:lvl8pPr>
              <a:defRPr sz="2100" b="1">
                <a:solidFill>
                  <a:srgbClr val="172B36"/>
                </a:solidFill>
                <a:latin typeface="Arial"/>
                <a:ea typeface="Arial"/>
                <a:cs typeface="Arial"/>
              </a:defRPr>
            </a:lvl8pPr>
            <a:lvl9pPr>
              <a:defRPr sz="2100" b="1">
                <a:solidFill>
                  <a:srgbClr val="172B36"/>
                </a:solidFill>
                <a:latin typeface="Arial"/>
                <a:ea typeface="Arial"/>
                <a:cs typeface="Arial"/>
              </a:defRPr>
            </a:lvl9pPr>
          </a:lstStyle>
          <a:p xmlns:a="http://schemas.openxmlformats.org/drawingml/2006/main">
            <a:pPr>
              <a:defRPr sz="2100" b="1">
                <a:solidFill>
                  <a:srgbClr val="172B36"/>
                </a:solidFill>
                <a:latin typeface="Arial"/>
                <a:ea typeface="Arial"/>
                <a:cs typeface="Arial"/>
              </a:defRPr>
            </a:pPr>
            <a:r>
              <a:rPr sz="2100" b="1">
                <a:solidFill>
                  <a:srgbClr val="172B36"/>
                </a:solidFill>
                <a:latin typeface="Arial"/>
                <a:ea typeface="Arial"/>
                <a:cs typeface="Arial"/>
              </a:rPr>
              <a:t>Whole games stay together in the training and validation split.</a:t>
            </a:r>
          </a:p>
        </p:txBody>
      </p:sp>
      <p:sp>
        <p:nvSpPr>
          <p:cNvPr id="8" name="fit">
            <a:extLst xmlns:a="http://schemas.openxmlformats.org/drawingml/2006/main">
              <a:ext uri="{FF2B5EF4-FFF2-40B4-BE49-F238E27FC236}">
                <a16:creationId xmlns:a16="http://schemas.microsoft.com/office/drawing/2014/main" id="{A5720C7C-EB36-47AF-B2A1-92D6DCD1FD44}"/>
              </a:ext>
            </a:extLst>
          </p:cNvPr>
          <p:cNvSpPr>
            <a:spLocks xmlns:a="http://schemas.openxmlformats.org/drawingml/2006/main" noGrp="1"/>
          </p:cNvSpPr>
          <p:nvPr/>
        </p:nvSpPr>
        <p:spPr>
          <a:xfrm xmlns:a="http://schemas.openxmlformats.org/drawingml/2006/main">
            <a:off x="723900" y="4562475"/>
            <a:ext cx="1078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36E"/>
                </a:solidFill>
                <a:latin typeface="Arial"/>
                <a:ea typeface="Arial"/>
                <a:cs typeface="Arial"/>
              </a:defRPr>
            </a:defPPr>
            <a:lvl1pPr>
              <a:defRPr sz="2100" b="0">
                <a:solidFill>
                  <a:srgbClr val="52636E"/>
                </a:solidFill>
                <a:latin typeface="Arial"/>
                <a:ea typeface="Arial"/>
                <a:cs typeface="Arial"/>
              </a:defRPr>
            </a:lvl1pPr>
            <a:lvl2pPr>
              <a:defRPr sz="2100" b="0">
                <a:solidFill>
                  <a:srgbClr val="52636E"/>
                </a:solidFill>
                <a:latin typeface="Arial"/>
                <a:ea typeface="Arial"/>
                <a:cs typeface="Arial"/>
              </a:defRPr>
            </a:lvl2pPr>
            <a:lvl3pPr>
              <a:defRPr sz="2100" b="0">
                <a:solidFill>
                  <a:srgbClr val="52636E"/>
                </a:solidFill>
                <a:latin typeface="Arial"/>
                <a:ea typeface="Arial"/>
                <a:cs typeface="Arial"/>
              </a:defRPr>
            </a:lvl3pPr>
            <a:lvl4pPr>
              <a:defRPr sz="2100" b="0">
                <a:solidFill>
                  <a:srgbClr val="52636E"/>
                </a:solidFill>
                <a:latin typeface="Arial"/>
                <a:ea typeface="Arial"/>
                <a:cs typeface="Arial"/>
              </a:defRPr>
            </a:lvl4pPr>
            <a:lvl5pPr>
              <a:defRPr sz="2100" b="0">
                <a:solidFill>
                  <a:srgbClr val="52636E"/>
                </a:solidFill>
                <a:latin typeface="Arial"/>
                <a:ea typeface="Arial"/>
                <a:cs typeface="Arial"/>
              </a:defRPr>
            </a:lvl5pPr>
            <a:lvl6pPr>
              <a:defRPr sz="2100" b="0">
                <a:solidFill>
                  <a:srgbClr val="52636E"/>
                </a:solidFill>
                <a:latin typeface="Arial"/>
                <a:ea typeface="Arial"/>
                <a:cs typeface="Arial"/>
              </a:defRPr>
            </a:lvl6pPr>
            <a:lvl7pPr>
              <a:defRPr sz="2100" b="0">
                <a:solidFill>
                  <a:srgbClr val="52636E"/>
                </a:solidFill>
                <a:latin typeface="Arial"/>
                <a:ea typeface="Arial"/>
                <a:cs typeface="Arial"/>
              </a:defRPr>
            </a:lvl7pPr>
            <a:lvl8pPr>
              <a:defRPr sz="2100" b="0">
                <a:solidFill>
                  <a:srgbClr val="52636E"/>
                </a:solidFill>
                <a:latin typeface="Arial"/>
                <a:ea typeface="Arial"/>
                <a:cs typeface="Arial"/>
              </a:defRPr>
            </a:lvl8pPr>
            <a:lvl9pPr>
              <a:defRPr sz="2100" b="0">
                <a:solidFill>
                  <a:srgbClr val="52636E"/>
                </a:solidFill>
                <a:latin typeface="Arial"/>
                <a:ea typeface="Arial"/>
                <a:cs typeface="Arial"/>
              </a:defRPr>
            </a:lvl9pPr>
          </a:lstStyle>
          <a:p xmlns:a="http://schemas.openxmlformats.org/drawingml/2006/main">
            <a:pPr>
              <a:defRPr sz="2100" b="0">
                <a:solidFill>
                  <a:srgbClr val="52636E"/>
                </a:solidFill>
                <a:latin typeface="Arial"/>
                <a:ea typeface="Arial"/>
                <a:cs typeface="Arial"/>
              </a:defRPr>
            </a:pPr>
            <a:r>
              <a:rPr sz="2100" b="0">
                <a:solidFill>
                  <a:srgbClr val="52636E"/>
                </a:solidFill>
                <a:latin typeface="Arial"/>
                <a:ea typeface="Arial"/>
                <a:cs typeface="Arial"/>
              </a:rPr>
              <a:t>Held-out-game AUC 0.8848. Log loss 0.4285.</a:t>
            </a:r>
          </a:p>
          <a:p xmlns:a="http://schemas.openxmlformats.org/drawingml/2006/main">
            <a:pPr>
              <a:defRPr sz="2100" b="0">
                <a:solidFill>
                  <a:srgbClr val="52636E"/>
                </a:solidFill>
                <a:latin typeface="Arial"/>
                <a:ea typeface="Arial"/>
                <a:cs typeface="Arial"/>
              </a:defRPr>
            </a:pPr>
            <a:r>
              <a:rPr sz="2100" b="0">
                <a:solidFill>
                  <a:srgbClr val="52636E"/>
                </a:solidFill>
                <a:latin typeface="Arial"/>
                <a:ea typeface="Arial"/>
                <a:cs typeface="Arial"/>
              </a:rPr>
              <a:t>Outcome prediction quality does not establish playing strength.</a:t>
            </a:r>
          </a:p>
        </p:txBody>
      </p:sp>
      <p:sp>
        <p:nvSpPr>
          <p:cNvPr id="9" name="deployment">
            <a:extLst xmlns:a="http://schemas.openxmlformats.org/drawingml/2006/main">
              <a:ext uri="{FF2B5EF4-FFF2-40B4-BE49-F238E27FC236}">
                <a16:creationId xmlns:a16="http://schemas.microsoft.com/office/drawing/2014/main" id="{EB4E97E8-AEAD-4FA3-AA6E-034B2309F5C4}"/>
              </a:ext>
            </a:extLst>
          </p:cNvPr>
          <p:cNvSpPr>
            <a:spLocks xmlns:a="http://schemas.openxmlformats.org/drawingml/2006/main" noGrp="1"/>
          </p:cNvSpPr>
          <p:nvPr/>
        </p:nvSpPr>
        <p:spPr>
          <a:xfrm xmlns:a="http://schemas.openxmlformats.org/drawingml/2006/main">
            <a:off x="723900" y="5695950"/>
            <a:ext cx="10782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2636E"/>
                </a:solidFill>
                <a:latin typeface="Arial"/>
                <a:ea typeface="Arial"/>
                <a:cs typeface="Arial"/>
              </a:defRPr>
            </a:defPPr>
            <a:lvl1pPr>
              <a:defRPr sz="1950" b="0">
                <a:solidFill>
                  <a:srgbClr val="52636E"/>
                </a:solidFill>
                <a:latin typeface="Arial"/>
                <a:ea typeface="Arial"/>
                <a:cs typeface="Arial"/>
              </a:defRPr>
            </a:lvl1pPr>
            <a:lvl2pPr>
              <a:defRPr sz="1950" b="0">
                <a:solidFill>
                  <a:srgbClr val="52636E"/>
                </a:solidFill>
                <a:latin typeface="Arial"/>
                <a:ea typeface="Arial"/>
                <a:cs typeface="Arial"/>
              </a:defRPr>
            </a:lvl2pPr>
            <a:lvl3pPr>
              <a:defRPr sz="1950" b="0">
                <a:solidFill>
                  <a:srgbClr val="52636E"/>
                </a:solidFill>
                <a:latin typeface="Arial"/>
                <a:ea typeface="Arial"/>
                <a:cs typeface="Arial"/>
              </a:defRPr>
            </a:lvl3pPr>
            <a:lvl4pPr>
              <a:defRPr sz="1950" b="0">
                <a:solidFill>
                  <a:srgbClr val="52636E"/>
                </a:solidFill>
                <a:latin typeface="Arial"/>
                <a:ea typeface="Arial"/>
                <a:cs typeface="Arial"/>
              </a:defRPr>
            </a:lvl4pPr>
            <a:lvl5pPr>
              <a:defRPr sz="1950" b="0">
                <a:solidFill>
                  <a:srgbClr val="52636E"/>
                </a:solidFill>
                <a:latin typeface="Arial"/>
                <a:ea typeface="Arial"/>
                <a:cs typeface="Arial"/>
              </a:defRPr>
            </a:lvl5pPr>
            <a:lvl6pPr>
              <a:defRPr sz="1950" b="0">
                <a:solidFill>
                  <a:srgbClr val="52636E"/>
                </a:solidFill>
                <a:latin typeface="Arial"/>
                <a:ea typeface="Arial"/>
                <a:cs typeface="Arial"/>
              </a:defRPr>
            </a:lvl6pPr>
            <a:lvl7pPr>
              <a:defRPr sz="1950" b="0">
                <a:solidFill>
                  <a:srgbClr val="52636E"/>
                </a:solidFill>
                <a:latin typeface="Arial"/>
                <a:ea typeface="Arial"/>
                <a:cs typeface="Arial"/>
              </a:defRPr>
            </a:lvl7pPr>
            <a:lvl8pPr>
              <a:defRPr sz="1950" b="0">
                <a:solidFill>
                  <a:srgbClr val="52636E"/>
                </a:solidFill>
                <a:latin typeface="Arial"/>
                <a:ea typeface="Arial"/>
                <a:cs typeface="Arial"/>
              </a:defRPr>
            </a:lvl8pPr>
            <a:lvl9pPr>
              <a:defRPr sz="1950" b="0">
                <a:solidFill>
                  <a:srgbClr val="52636E"/>
                </a:solidFill>
                <a:latin typeface="Arial"/>
                <a:ea typeface="Arial"/>
                <a:cs typeface="Arial"/>
              </a:defRPr>
            </a:lvl9pPr>
          </a:lstStyle>
          <a:p xmlns:a="http://schemas.openxmlformats.org/drawingml/2006/main">
            <a:pPr>
              <a:defRPr sz="1950" b="0">
                <a:solidFill>
                  <a:srgbClr val="52636E"/>
                </a:solidFill>
                <a:latin typeface="Arial"/>
                <a:ea typeface="Arial"/>
                <a:cs typeface="Arial"/>
              </a:defRPr>
            </a:pPr>
            <a:r>
              <a:rPr sz="1950" b="0">
                <a:solidFill>
                  <a:srgbClr val="52636E"/>
                </a:solidFill>
                <a:latin typeface="Arial"/>
                <a:ea typeface="Arial"/>
                <a:cs typeface="Arial"/>
              </a:rPr>
              <a:t>Deployment adds 0.4 × model logit to the heuristic outside opening placement.</a:t>
            </a:r>
          </a:p>
        </p:txBody>
      </p:sp>
    </p:spTree>
    <p:extLst>
      <p:ext uri="{BB962C8B-B14F-4D97-AF65-F5344CB8AC3E}">
        <p14:creationId xmlns:p14="http://schemas.microsoft.com/office/powerpoint/2010/main" val="12557686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F806177-B017-4A74-A159-F0E752395ED2}"/>
              </a:ext>
            </a:extLst>
          </p:cNvPr>
          <p:cNvSpPr>
            <a:spLocks xmlns:a="http://schemas.openxmlformats.org/drawingml/2006/main" noGrp="1"/>
          </p:cNvSpPr>
          <p:nvPr/>
        </p:nvSpPr>
        <p:spPr>
          <a:xfrm xmlns:a="http://schemas.openxmlformats.org/drawingml/2006/main">
            <a:off x="685800" y="5048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B36"/>
                </a:solidFill>
                <a:latin typeface="Arial"/>
                <a:ea typeface="Arial"/>
                <a:cs typeface="Arial"/>
              </a:defRPr>
            </a:defPPr>
            <a:lvl1pPr>
              <a:defRPr sz="3450" b="1">
                <a:solidFill>
                  <a:srgbClr val="172B36"/>
                </a:solidFill>
                <a:latin typeface="Arial"/>
                <a:ea typeface="Arial"/>
                <a:cs typeface="Arial"/>
              </a:defRPr>
            </a:lvl1pPr>
            <a:lvl2pPr>
              <a:defRPr sz="3450" b="1">
                <a:solidFill>
                  <a:srgbClr val="172B36"/>
                </a:solidFill>
                <a:latin typeface="Arial"/>
                <a:ea typeface="Arial"/>
                <a:cs typeface="Arial"/>
              </a:defRPr>
            </a:lvl2pPr>
            <a:lvl3pPr>
              <a:defRPr sz="3450" b="1">
                <a:solidFill>
                  <a:srgbClr val="172B36"/>
                </a:solidFill>
                <a:latin typeface="Arial"/>
                <a:ea typeface="Arial"/>
                <a:cs typeface="Arial"/>
              </a:defRPr>
            </a:lvl3pPr>
            <a:lvl4pPr>
              <a:defRPr sz="3450" b="1">
                <a:solidFill>
                  <a:srgbClr val="172B36"/>
                </a:solidFill>
                <a:latin typeface="Arial"/>
                <a:ea typeface="Arial"/>
                <a:cs typeface="Arial"/>
              </a:defRPr>
            </a:lvl4pPr>
            <a:lvl5pPr>
              <a:defRPr sz="3450" b="1">
                <a:solidFill>
                  <a:srgbClr val="172B36"/>
                </a:solidFill>
                <a:latin typeface="Arial"/>
                <a:ea typeface="Arial"/>
                <a:cs typeface="Arial"/>
              </a:defRPr>
            </a:lvl5pPr>
            <a:lvl6pPr>
              <a:defRPr sz="3450" b="1">
                <a:solidFill>
                  <a:srgbClr val="172B36"/>
                </a:solidFill>
                <a:latin typeface="Arial"/>
                <a:ea typeface="Arial"/>
                <a:cs typeface="Arial"/>
              </a:defRPr>
            </a:lvl6pPr>
            <a:lvl7pPr>
              <a:defRPr sz="3450" b="1">
                <a:solidFill>
                  <a:srgbClr val="172B36"/>
                </a:solidFill>
                <a:latin typeface="Arial"/>
                <a:ea typeface="Arial"/>
                <a:cs typeface="Arial"/>
              </a:defRPr>
            </a:lvl7pPr>
            <a:lvl8pPr>
              <a:defRPr sz="3450" b="1">
                <a:solidFill>
                  <a:srgbClr val="172B36"/>
                </a:solidFill>
                <a:latin typeface="Arial"/>
                <a:ea typeface="Arial"/>
                <a:cs typeface="Arial"/>
              </a:defRPr>
            </a:lvl8pPr>
            <a:lvl9pPr>
              <a:defRPr sz="3450" b="1">
                <a:solidFill>
                  <a:srgbClr val="172B36"/>
                </a:solidFill>
                <a:latin typeface="Arial"/>
                <a:ea typeface="Arial"/>
                <a:cs typeface="Arial"/>
              </a:defRPr>
            </a:lvl9pPr>
          </a:lstStyle>
          <a:p xmlns:a="http://schemas.openxmlformats.org/drawingml/2006/main">
            <a:pPr>
              <a:defRPr sz="3450" b="1">
                <a:solidFill>
                  <a:srgbClr val="172B36"/>
                </a:solidFill>
                <a:latin typeface="Arial"/>
                <a:ea typeface="Arial"/>
                <a:cs typeface="Arial"/>
              </a:defRPr>
            </a:pPr>
            <a:r>
              <a:rPr sz="3450" b="1">
                <a:solidFill>
                  <a:srgbClr val="172B36"/>
                </a:solidFill>
                <a:latin typeface="Arial"/>
                <a:ea typeface="Arial"/>
                <a:cs typeface="Arial"/>
              </a:rPr>
              <a:t>Candidate selection and fresh validation</a:t>
            </a:r>
          </a:p>
        </p:txBody>
      </p:sp>
      <p:sp>
        <p:nvSpPr>
          <p:cNvPr id="2" name="page-number">
            <a:extLst xmlns:a="http://schemas.openxmlformats.org/drawingml/2006/main">
              <a:ext uri="{FF2B5EF4-FFF2-40B4-BE49-F238E27FC236}">
                <a16:creationId xmlns:a16="http://schemas.microsoft.com/office/drawing/2014/main" id="{85EB11AB-B24C-4121-BA84-8D6478027D5A}"/>
              </a:ext>
            </a:extLst>
          </p:cNvPr>
          <p:cNvSpPr>
            <a:spLocks xmlns:a="http://schemas.openxmlformats.org/drawingml/2006/main" noGrp="1"/>
          </p:cNvSpPr>
          <p:nvPr/>
        </p:nvSpPr>
        <p:spPr>
          <a:xfrm xmlns:a="http://schemas.openxmlformats.org/drawingml/2006/main">
            <a:off x="11049000" y="63246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36E"/>
                </a:solidFill>
                <a:latin typeface="Arial"/>
                <a:ea typeface="Arial"/>
                <a:cs typeface="Arial"/>
              </a:defRPr>
            </a:defPPr>
            <a:lvl1pPr>
              <a:defRPr sz="1725" b="0">
                <a:solidFill>
                  <a:srgbClr val="52636E"/>
                </a:solidFill>
                <a:latin typeface="Arial"/>
                <a:ea typeface="Arial"/>
                <a:cs typeface="Arial"/>
              </a:defRPr>
            </a:lvl1pPr>
            <a:lvl2pPr>
              <a:defRPr sz="1725" b="0">
                <a:solidFill>
                  <a:srgbClr val="52636E"/>
                </a:solidFill>
                <a:latin typeface="Arial"/>
                <a:ea typeface="Arial"/>
                <a:cs typeface="Arial"/>
              </a:defRPr>
            </a:lvl2pPr>
            <a:lvl3pPr>
              <a:defRPr sz="1725" b="0">
                <a:solidFill>
                  <a:srgbClr val="52636E"/>
                </a:solidFill>
                <a:latin typeface="Arial"/>
                <a:ea typeface="Arial"/>
                <a:cs typeface="Arial"/>
              </a:defRPr>
            </a:lvl3pPr>
            <a:lvl4pPr>
              <a:defRPr sz="1725" b="0">
                <a:solidFill>
                  <a:srgbClr val="52636E"/>
                </a:solidFill>
                <a:latin typeface="Arial"/>
                <a:ea typeface="Arial"/>
                <a:cs typeface="Arial"/>
              </a:defRPr>
            </a:lvl4pPr>
            <a:lvl5pPr>
              <a:defRPr sz="1725" b="0">
                <a:solidFill>
                  <a:srgbClr val="52636E"/>
                </a:solidFill>
                <a:latin typeface="Arial"/>
                <a:ea typeface="Arial"/>
                <a:cs typeface="Arial"/>
              </a:defRPr>
            </a:lvl5pPr>
            <a:lvl6pPr>
              <a:defRPr sz="1725" b="0">
                <a:solidFill>
                  <a:srgbClr val="52636E"/>
                </a:solidFill>
                <a:latin typeface="Arial"/>
                <a:ea typeface="Arial"/>
                <a:cs typeface="Arial"/>
              </a:defRPr>
            </a:lvl6pPr>
            <a:lvl7pPr>
              <a:defRPr sz="1725" b="0">
                <a:solidFill>
                  <a:srgbClr val="52636E"/>
                </a:solidFill>
                <a:latin typeface="Arial"/>
                <a:ea typeface="Arial"/>
                <a:cs typeface="Arial"/>
              </a:defRPr>
            </a:lvl7pPr>
            <a:lvl8pPr>
              <a:defRPr sz="1725" b="0">
                <a:solidFill>
                  <a:srgbClr val="52636E"/>
                </a:solidFill>
                <a:latin typeface="Arial"/>
                <a:ea typeface="Arial"/>
                <a:cs typeface="Arial"/>
              </a:defRPr>
            </a:lvl8pPr>
            <a:lvl9pPr>
              <a:defRPr sz="1725" b="0">
                <a:solidFill>
                  <a:srgbClr val="52636E"/>
                </a:solidFill>
                <a:latin typeface="Arial"/>
                <a:ea typeface="Arial"/>
                <a:cs typeface="Arial"/>
              </a:defRPr>
            </a:lvl9pPr>
          </a:lstStyle>
          <a:p xmlns:a="http://schemas.openxmlformats.org/drawingml/2006/main">
            <a:pPr>
              <a:defRPr sz="1725" b="0">
                <a:solidFill>
                  <a:srgbClr val="52636E"/>
                </a:solidFill>
                <a:latin typeface="Arial"/>
                <a:ea typeface="Arial"/>
                <a:cs typeface="Arial"/>
              </a:defRPr>
            </a:pPr>
            <a:r>
              <a:rPr sz="1725" b="0">
                <a:solidFill>
                  <a:srgbClr val="52636E"/>
                </a:solidFill>
                <a:latin typeface="Arial"/>
                <a:ea typeface="Arial"/>
                <a:cs typeface="Arial"/>
              </a:rPr>
              <a:t>4</a:t>
            </a:r>
          </a:p>
        </p:txBody>
      </p:sp>
      <p:sp>
        <p:nvSpPr>
          <p:cNvPr id="3" name="screen-label">
            <a:extLst xmlns:a="http://schemas.openxmlformats.org/drawingml/2006/main">
              <a:ext uri="{FF2B5EF4-FFF2-40B4-BE49-F238E27FC236}">
                <a16:creationId xmlns:a16="http://schemas.microsoft.com/office/drawing/2014/main" id="{B19F4947-C7FC-41AC-A8E7-FE771DEB35E9}"/>
              </a:ext>
            </a:extLst>
          </p:cNvPr>
          <p:cNvSpPr>
            <a:spLocks xmlns:a="http://schemas.openxmlformats.org/drawingml/2006/main" noGrp="1"/>
          </p:cNvSpPr>
          <p:nvPr/>
        </p:nvSpPr>
        <p:spPr>
          <a:xfrm xmlns:a="http://schemas.openxmlformats.org/drawingml/2006/main">
            <a:off x="685800" y="15144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36E"/>
                </a:solidFill>
                <a:latin typeface="Arial"/>
                <a:ea typeface="Arial"/>
                <a:cs typeface="Arial"/>
              </a:defRPr>
            </a:defPPr>
            <a:lvl1pPr>
              <a:defRPr sz="2025" b="0">
                <a:solidFill>
                  <a:srgbClr val="52636E"/>
                </a:solidFill>
                <a:latin typeface="Arial"/>
                <a:ea typeface="Arial"/>
                <a:cs typeface="Arial"/>
              </a:defRPr>
            </a:lvl1pPr>
            <a:lvl2pPr>
              <a:defRPr sz="2025" b="0">
                <a:solidFill>
                  <a:srgbClr val="52636E"/>
                </a:solidFill>
                <a:latin typeface="Arial"/>
                <a:ea typeface="Arial"/>
                <a:cs typeface="Arial"/>
              </a:defRPr>
            </a:lvl2pPr>
            <a:lvl3pPr>
              <a:defRPr sz="2025" b="0">
                <a:solidFill>
                  <a:srgbClr val="52636E"/>
                </a:solidFill>
                <a:latin typeface="Arial"/>
                <a:ea typeface="Arial"/>
                <a:cs typeface="Arial"/>
              </a:defRPr>
            </a:lvl3pPr>
            <a:lvl4pPr>
              <a:defRPr sz="2025" b="0">
                <a:solidFill>
                  <a:srgbClr val="52636E"/>
                </a:solidFill>
                <a:latin typeface="Arial"/>
                <a:ea typeface="Arial"/>
                <a:cs typeface="Arial"/>
              </a:defRPr>
            </a:lvl4pPr>
            <a:lvl5pPr>
              <a:defRPr sz="2025" b="0">
                <a:solidFill>
                  <a:srgbClr val="52636E"/>
                </a:solidFill>
                <a:latin typeface="Arial"/>
                <a:ea typeface="Arial"/>
                <a:cs typeface="Arial"/>
              </a:defRPr>
            </a:lvl5pPr>
            <a:lvl6pPr>
              <a:defRPr sz="2025" b="0">
                <a:solidFill>
                  <a:srgbClr val="52636E"/>
                </a:solidFill>
                <a:latin typeface="Arial"/>
                <a:ea typeface="Arial"/>
                <a:cs typeface="Arial"/>
              </a:defRPr>
            </a:lvl6pPr>
            <a:lvl7pPr>
              <a:defRPr sz="2025" b="0">
                <a:solidFill>
                  <a:srgbClr val="52636E"/>
                </a:solidFill>
                <a:latin typeface="Arial"/>
                <a:ea typeface="Arial"/>
                <a:cs typeface="Arial"/>
              </a:defRPr>
            </a:lvl7pPr>
            <a:lvl8pPr>
              <a:defRPr sz="2025" b="0">
                <a:solidFill>
                  <a:srgbClr val="52636E"/>
                </a:solidFill>
                <a:latin typeface="Arial"/>
                <a:ea typeface="Arial"/>
                <a:cs typeface="Arial"/>
              </a:defRPr>
            </a:lvl8pPr>
            <a:lvl9pPr>
              <a:defRPr sz="2025" b="0">
                <a:solidFill>
                  <a:srgbClr val="52636E"/>
                </a:solidFill>
                <a:latin typeface="Arial"/>
                <a:ea typeface="Arial"/>
                <a:cs typeface="Arial"/>
              </a:defRPr>
            </a:lvl9pPr>
          </a:lstStyle>
          <a:p xmlns:a="http://schemas.openxmlformats.org/drawingml/2006/main">
            <a:pPr>
              <a:defRPr sz="2025" b="0">
                <a:solidFill>
                  <a:srgbClr val="52636E"/>
                </a:solidFill>
                <a:latin typeface="Arial"/>
                <a:ea typeface="Arial"/>
                <a:cs typeface="Arial"/>
              </a:defRPr>
            </a:pPr>
            <a:r>
              <a:rPr sz="2025" b="0">
                <a:solidFill>
                  <a:srgbClr val="52636E"/>
                </a:solidFill>
                <a:latin typeface="Arial"/>
                <a:ea typeface="Arial"/>
                <a:cs typeface="Arial"/>
              </a:rPr>
              <a:t>Common 400-game screen against F</a:t>
            </a:r>
          </a:p>
        </p:txBody>
      </p:sp>
      <p:graphicFrame>
        <p:nvGraphicFramePr>
          <p:cNvPr id="4" name="">
            <a:extLst xmlns:a="http://schemas.openxmlformats.org/drawingml/2006/main">
              <a:ext uri="{FF2B5EF4-FFF2-40B4-BE49-F238E27FC236}">
                <a16:creationId xmlns:a16="http://schemas.microsoft.com/office/drawing/2014/main" id="{3C64EEE0-DEF1-424E-8B3A-48692EB43CA1}"/>
              </a:ext>
            </a:extLst>
          </p:cNvPr>
          <p:cNvGraphicFramePr/>
          <p:nvPr/>
        </p:nvGraphicFramePr>
        <p:xfrm>
          <a:off xmlns:a="http://schemas.openxmlformats.org/drawingml/2006/main" x="685800" y="2095500"/>
          <a:ext xmlns:a="http://schemas.openxmlformats.org/drawingml/2006/main" cx="10820400" cy="2571750"/>
        </p:xfrm>
        <a:graphic xmlns:a="http://schemas.openxmlformats.org/drawingml/2006/main">
          <a:graphicData uri="http://schemas.openxmlformats.org/drawingml/2006/table">
            <a:tbl>
              <a:tblPr/>
              <a:tblGrid>
                <a:gridCol w="5867400"/>
                <a:gridCol w="2476500"/>
                <a:gridCol w="2476500"/>
              </a:tblGrid>
              <a:tr h="642938">
                <a:tc>
                  <a:txBody>
                    <a:bodyPr/>
                    <a:lstStyle/>
                    <a:p>
                      <a:r>
                        <a:rPr sz="1875" b="1">
                          <a:solidFill>
                            <a:srgbClr val="FFFFFF"/>
                          </a:solidFill>
                          <a:latin typeface="Arial"/>
                          <a:ea typeface="Arial"/>
                          <a:cs typeface="Arial"/>
                        </a:rPr>
                        <a:t>Candidate</a:t>
                      </a:r>
                    </a:p>
                  </a:txBody>
                  <a:tcPr marL="152400" marR="133350" marT="114300" marB="114300" anchor="ctr">
                    <a:lnL w="9525">
                      <a:solidFill>
                        <a:srgbClr val="D9E0E4"/>
                      </a:solidFill>
                      <a:prstDash val="solid"/>
                    </a:lnL>
                    <a:lnR w="9525">
                      <a:solidFill>
                        <a:srgbClr val="D9E0E4"/>
                      </a:solidFill>
                      <a:prstDash val="solid"/>
                    </a:lnR>
                    <a:lnT w="9525">
                      <a:solidFill>
                        <a:srgbClr val="D9E0E4"/>
                      </a:solidFill>
                      <a:prstDash val="solid"/>
                    </a:lnT>
                    <a:lnB w="9525">
                      <a:solidFill>
                        <a:srgbClr val="D9E0E4"/>
                      </a:solidFill>
                      <a:prstDash val="solid"/>
                    </a:lnB>
                    <a:solidFill>
                      <a:srgbClr val="173947"/>
                    </a:solidFill>
                  </a:tcPr>
                </a:tc>
                <a:tc>
                  <a:txBody>
                    <a:bodyPr/>
                    <a:lstStyle/>
                    <a:p>
                      <a:r>
                        <a:rPr sz="1875" b="1">
                          <a:solidFill>
                            <a:srgbClr val="FFFFFF"/>
                          </a:solidFill>
                          <a:latin typeface="Arial"/>
                          <a:ea typeface="Arial"/>
                          <a:cs typeface="Arial"/>
                        </a:rPr>
                        <a:t>Wins</a:t>
                      </a:r>
                    </a:p>
                  </a:txBody>
                  <a:tcPr marL="152400" marR="133350" marT="114300" marB="114300" anchor="ctr">
                    <a:lnR w="9525">
                      <a:solidFill>
                        <a:srgbClr val="D9E0E4"/>
                      </a:solidFill>
                      <a:prstDash val="solid"/>
                    </a:lnR>
                    <a:lnT w="9525">
                      <a:solidFill>
                        <a:srgbClr val="D9E0E4"/>
                      </a:solidFill>
                      <a:prstDash val="solid"/>
                    </a:lnT>
                    <a:lnB w="9525">
                      <a:solidFill>
                        <a:srgbClr val="D9E0E4"/>
                      </a:solidFill>
                      <a:prstDash val="solid"/>
                    </a:lnB>
                    <a:solidFill>
                      <a:srgbClr val="173947"/>
                    </a:solidFill>
                  </a:tcPr>
                </a:tc>
                <a:tc>
                  <a:txBody>
                    <a:bodyPr/>
                    <a:lstStyle/>
                    <a:p>
                      <a:r>
                        <a:rPr sz="1875" b="1">
                          <a:solidFill>
                            <a:srgbClr val="FFFFFF"/>
                          </a:solidFill>
                          <a:latin typeface="Arial"/>
                          <a:ea typeface="Arial"/>
                          <a:cs typeface="Arial"/>
                        </a:rPr>
                        <a:t>Win rate</a:t>
                      </a:r>
                    </a:p>
                  </a:txBody>
                  <a:tcPr marL="152400" marR="133350" marT="114300" marB="114300" anchor="ctr">
                    <a:lnR w="9525">
                      <a:solidFill>
                        <a:srgbClr val="D9E0E4"/>
                      </a:solidFill>
                      <a:prstDash val="solid"/>
                    </a:lnR>
                    <a:lnT w="9525">
                      <a:solidFill>
                        <a:srgbClr val="D9E0E4"/>
                      </a:solidFill>
                      <a:prstDash val="solid"/>
                    </a:lnT>
                    <a:lnB w="9525">
                      <a:solidFill>
                        <a:srgbClr val="D9E0E4"/>
                      </a:solidFill>
                      <a:prstDash val="solid"/>
                    </a:lnB>
                    <a:solidFill>
                      <a:srgbClr val="173947"/>
                    </a:solidFill>
                  </a:tcPr>
                </a:tc>
              </a:tr>
              <a:tr h="642938">
                <a:tc>
                  <a:txBody>
                    <a:bodyPr/>
                    <a:lstStyle/>
                    <a:p>
                      <a:r>
                        <a:rPr sz="1875" b="0">
                          <a:solidFill>
                            <a:srgbClr val="172B36"/>
                          </a:solidFill>
                          <a:latin typeface="Arial"/>
                          <a:ea typeface="Arial"/>
                          <a:cs typeface="Arial"/>
                        </a:rPr>
                        <a:t>Heuristic control</a:t>
                      </a:r>
                    </a:p>
                  </a:txBody>
                  <a:tcPr marL="152400" marR="133350" marT="114300" marB="114300" anchor="ctr">
                    <a:lnL w="9525">
                      <a:solidFill>
                        <a:srgbClr val="D9E0E4"/>
                      </a:solidFill>
                      <a:prstDash val="solid"/>
                    </a:lnL>
                    <a:lnR w="9525">
                      <a:solidFill>
                        <a:srgbClr val="D9E0E4"/>
                      </a:solidFill>
                      <a:prstDash val="solid"/>
                    </a:lnR>
                    <a:lnB w="9525">
                      <a:solidFill>
                        <a:srgbClr val="D9E0E4"/>
                      </a:solidFill>
                      <a:prstDash val="solid"/>
                    </a:lnB>
                    <a:solidFill>
                      <a:srgbClr val="FFFFFF"/>
                    </a:solidFill>
                  </a:tcPr>
                </a:tc>
                <a:tc>
                  <a:txBody>
                    <a:bodyPr/>
                    <a:lstStyle/>
                    <a:p>
                      <a:r>
                        <a:rPr sz="1875" b="0">
                          <a:solidFill>
                            <a:srgbClr val="172B36"/>
                          </a:solidFill>
                          <a:latin typeface="Arial"/>
                          <a:ea typeface="Arial"/>
                          <a:cs typeface="Arial"/>
                        </a:rPr>
                        <a:t>316 / 400</a:t>
                      </a:r>
                    </a:p>
                  </a:txBody>
                  <a:tcPr marL="152400" marR="133350" marT="114300" marB="114300" anchor="ctr">
                    <a:lnR w="9525">
                      <a:solidFill>
                        <a:srgbClr val="D9E0E4"/>
                      </a:solidFill>
                      <a:prstDash val="solid"/>
                    </a:lnR>
                    <a:lnB w="9525">
                      <a:solidFill>
                        <a:srgbClr val="D9E0E4"/>
                      </a:solidFill>
                      <a:prstDash val="solid"/>
                    </a:lnB>
                    <a:solidFill>
                      <a:srgbClr val="FFFFFF"/>
                    </a:solidFill>
                  </a:tcPr>
                </a:tc>
                <a:tc>
                  <a:txBody>
                    <a:bodyPr/>
                    <a:lstStyle/>
                    <a:p>
                      <a:r>
                        <a:rPr sz="1875" b="0">
                          <a:solidFill>
                            <a:srgbClr val="172B36"/>
                          </a:solidFill>
                          <a:latin typeface="Arial"/>
                          <a:ea typeface="Arial"/>
                          <a:cs typeface="Arial"/>
                        </a:rPr>
                        <a:t>79.00%</a:t>
                      </a:r>
                    </a:p>
                  </a:txBody>
                  <a:tcPr marL="152400" marR="133350" marT="114300" marB="114300" anchor="ctr">
                    <a:lnR w="9525">
                      <a:solidFill>
                        <a:srgbClr val="D9E0E4"/>
                      </a:solidFill>
                      <a:prstDash val="solid"/>
                    </a:lnR>
                    <a:lnB w="9525">
                      <a:solidFill>
                        <a:srgbClr val="D9E0E4"/>
                      </a:solidFill>
                      <a:prstDash val="solid"/>
                    </a:lnB>
                    <a:solidFill>
                      <a:srgbClr val="FFFFFF"/>
                    </a:solidFill>
                  </a:tcPr>
                </a:tc>
              </a:tr>
              <a:tr h="642938">
                <a:tc>
                  <a:txBody>
                    <a:bodyPr/>
                    <a:lstStyle/>
                    <a:p>
                      <a:r>
                        <a:rPr sz="1875" b="0">
                          <a:solidFill>
                            <a:srgbClr val="172B36"/>
                          </a:solidFill>
                          <a:latin typeface="Arial"/>
                          <a:ea typeface="Arial"/>
                          <a:cs typeface="Arial"/>
                        </a:rPr>
                        <a:t>Heuristic + 0.4 logit</a:t>
                      </a:r>
                    </a:p>
                  </a:txBody>
                  <a:tcPr marL="152400" marR="133350" marT="114300" marB="114300" anchor="ctr">
                    <a:lnL w="9525">
                      <a:solidFill>
                        <a:srgbClr val="D9E0E4"/>
                      </a:solidFill>
                      <a:prstDash val="solid"/>
                    </a:lnL>
                    <a:lnR w="9525">
                      <a:solidFill>
                        <a:srgbClr val="D9E0E4"/>
                      </a:solidFill>
                      <a:prstDash val="solid"/>
                    </a:lnR>
                    <a:lnB w="9525">
                      <a:solidFill>
                        <a:srgbClr val="D9E0E4"/>
                      </a:solidFill>
                      <a:prstDash val="solid"/>
                    </a:lnB>
                    <a:solidFill>
                      <a:srgbClr val="F1F5F7"/>
                    </a:solidFill>
                  </a:tcPr>
                </a:tc>
                <a:tc>
                  <a:txBody>
                    <a:bodyPr/>
                    <a:lstStyle/>
                    <a:p>
                      <a:r>
                        <a:rPr sz="1875" b="0">
                          <a:solidFill>
                            <a:srgbClr val="172B36"/>
                          </a:solidFill>
                          <a:latin typeface="Arial"/>
                          <a:ea typeface="Arial"/>
                          <a:cs typeface="Arial"/>
                        </a:rPr>
                        <a:t>318 / 400</a:t>
                      </a:r>
                    </a:p>
                  </a:txBody>
                  <a:tcPr marL="152400" marR="133350" marT="114300" marB="114300" anchor="ctr">
                    <a:lnR w="9525">
                      <a:solidFill>
                        <a:srgbClr val="D9E0E4"/>
                      </a:solidFill>
                      <a:prstDash val="solid"/>
                    </a:lnR>
                    <a:lnB w="9525">
                      <a:solidFill>
                        <a:srgbClr val="D9E0E4"/>
                      </a:solidFill>
                      <a:prstDash val="solid"/>
                    </a:lnB>
                    <a:solidFill>
                      <a:srgbClr val="F1F5F7"/>
                    </a:solidFill>
                  </a:tcPr>
                </a:tc>
                <a:tc>
                  <a:txBody>
                    <a:bodyPr/>
                    <a:lstStyle/>
                    <a:p>
                      <a:r>
                        <a:rPr sz="1875" b="0">
                          <a:solidFill>
                            <a:srgbClr val="172B36"/>
                          </a:solidFill>
                          <a:latin typeface="Arial"/>
                          <a:ea typeface="Arial"/>
                          <a:cs typeface="Arial"/>
                        </a:rPr>
                        <a:t>79.50%</a:t>
                      </a:r>
                    </a:p>
                  </a:txBody>
                  <a:tcPr marL="152400" marR="133350" marT="114300" marB="114300" anchor="ctr">
                    <a:lnR w="9525">
                      <a:solidFill>
                        <a:srgbClr val="D9E0E4"/>
                      </a:solidFill>
                      <a:prstDash val="solid"/>
                    </a:lnR>
                    <a:lnB w="9525">
                      <a:solidFill>
                        <a:srgbClr val="D9E0E4"/>
                      </a:solidFill>
                      <a:prstDash val="solid"/>
                    </a:lnB>
                    <a:solidFill>
                      <a:srgbClr val="F1F5F7"/>
                    </a:solidFill>
                  </a:tcPr>
                </a:tc>
              </a:tr>
              <a:tr h="642938">
                <a:tc>
                  <a:txBody>
                    <a:bodyPr/>
                    <a:lstStyle/>
                    <a:p>
                      <a:r>
                        <a:rPr sz="1875" b="0">
                          <a:solidFill>
                            <a:srgbClr val="172B36"/>
                          </a:solidFill>
                          <a:latin typeface="Arial"/>
                          <a:ea typeface="Arial"/>
                          <a:cs typeface="Arial"/>
                        </a:rPr>
                        <a:t>Heuristic + 0.9 logit</a:t>
                      </a:r>
                    </a:p>
                  </a:txBody>
                  <a:tcPr marL="152400" marR="133350" marT="114300" marB="114300" anchor="ctr">
                    <a:lnL w="9525">
                      <a:solidFill>
                        <a:srgbClr val="D9E0E4"/>
                      </a:solidFill>
                      <a:prstDash val="solid"/>
                    </a:lnL>
                    <a:lnR w="9525">
                      <a:solidFill>
                        <a:srgbClr val="D9E0E4"/>
                      </a:solidFill>
                      <a:prstDash val="solid"/>
                    </a:lnR>
                    <a:lnB w="9525">
                      <a:solidFill>
                        <a:srgbClr val="D9E0E4"/>
                      </a:solidFill>
                      <a:prstDash val="solid"/>
                    </a:lnB>
                    <a:solidFill>
                      <a:srgbClr val="FFFFFF"/>
                    </a:solidFill>
                  </a:tcPr>
                </a:tc>
                <a:tc>
                  <a:txBody>
                    <a:bodyPr/>
                    <a:lstStyle/>
                    <a:p>
                      <a:r>
                        <a:rPr sz="1875" b="0">
                          <a:solidFill>
                            <a:srgbClr val="172B36"/>
                          </a:solidFill>
                          <a:latin typeface="Arial"/>
                          <a:ea typeface="Arial"/>
                          <a:cs typeface="Arial"/>
                        </a:rPr>
                        <a:t>317 / 400</a:t>
                      </a:r>
                    </a:p>
                  </a:txBody>
                  <a:tcPr marL="152400" marR="133350" marT="114300" marB="114300" anchor="ctr">
                    <a:lnR w="9525">
                      <a:solidFill>
                        <a:srgbClr val="D9E0E4"/>
                      </a:solidFill>
                      <a:prstDash val="solid"/>
                    </a:lnR>
                    <a:lnB w="9525">
                      <a:solidFill>
                        <a:srgbClr val="D9E0E4"/>
                      </a:solidFill>
                      <a:prstDash val="solid"/>
                    </a:lnB>
                    <a:solidFill>
                      <a:srgbClr val="FFFFFF"/>
                    </a:solidFill>
                  </a:tcPr>
                </a:tc>
                <a:tc>
                  <a:txBody>
                    <a:bodyPr/>
                    <a:lstStyle/>
                    <a:p>
                      <a:r>
                        <a:rPr sz="1875" b="0">
                          <a:solidFill>
                            <a:srgbClr val="172B36"/>
                          </a:solidFill>
                          <a:latin typeface="Arial"/>
                          <a:ea typeface="Arial"/>
                          <a:cs typeface="Arial"/>
                        </a:rPr>
                        <a:t>79.25%</a:t>
                      </a:r>
                    </a:p>
                  </a:txBody>
                  <a:tcPr marL="152400" marR="133350" marT="114300" marB="114300" anchor="ctr">
                    <a:lnR w="9525">
                      <a:solidFill>
                        <a:srgbClr val="D9E0E4"/>
                      </a:solidFill>
                      <a:prstDash val="solid"/>
                    </a:lnR>
                    <a:lnB w="9525">
                      <a:solidFill>
                        <a:srgbClr val="D9E0E4"/>
                      </a:solidFill>
                      <a:prstDash val="solid"/>
                    </a:lnB>
                    <a:solidFill>
                      <a:srgbClr val="FFFFFF"/>
                    </a:solidFill>
                  </a:tcPr>
                </a:tc>
              </a:tr>
            </a:tbl>
          </a:graphicData>
        </a:graphic>
      </p:graphicFrame>
      <p:sp>
        <p:nvSpPr>
          <p:cNvPr id="5" name="fresh-result">
            <a:extLst xmlns:a="http://schemas.openxmlformats.org/drawingml/2006/main">
              <a:ext uri="{FF2B5EF4-FFF2-40B4-BE49-F238E27FC236}">
                <a16:creationId xmlns:a16="http://schemas.microsoft.com/office/drawing/2014/main" id="{EE83D84B-1D33-4388-94EF-6E783F50D033}"/>
              </a:ext>
            </a:extLst>
          </p:cNvPr>
          <p:cNvSpPr>
            <a:spLocks xmlns:a="http://schemas.openxmlformats.org/drawingml/2006/main" noGrp="1"/>
          </p:cNvSpPr>
          <p:nvPr/>
        </p:nvSpPr>
        <p:spPr>
          <a:xfrm xmlns:a="http://schemas.openxmlformats.org/drawingml/2006/main">
            <a:off x="723900" y="4972050"/>
            <a:ext cx="10782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C7C86"/>
                </a:solidFill>
                <a:latin typeface="Arial"/>
                <a:ea typeface="Arial"/>
                <a:cs typeface="Arial"/>
              </a:defRPr>
            </a:defPPr>
            <a:lvl1pPr>
              <a:defRPr sz="2550" b="1">
                <a:solidFill>
                  <a:srgbClr val="0C7C86"/>
                </a:solidFill>
                <a:latin typeface="Arial"/>
                <a:ea typeface="Arial"/>
                <a:cs typeface="Arial"/>
              </a:defRPr>
            </a:lvl1pPr>
            <a:lvl2pPr>
              <a:defRPr sz="2550" b="1">
                <a:solidFill>
                  <a:srgbClr val="0C7C86"/>
                </a:solidFill>
                <a:latin typeface="Arial"/>
                <a:ea typeface="Arial"/>
                <a:cs typeface="Arial"/>
              </a:defRPr>
            </a:lvl2pPr>
            <a:lvl3pPr>
              <a:defRPr sz="2550" b="1">
                <a:solidFill>
                  <a:srgbClr val="0C7C86"/>
                </a:solidFill>
                <a:latin typeface="Arial"/>
                <a:ea typeface="Arial"/>
                <a:cs typeface="Arial"/>
              </a:defRPr>
            </a:lvl3pPr>
            <a:lvl4pPr>
              <a:defRPr sz="2550" b="1">
                <a:solidFill>
                  <a:srgbClr val="0C7C86"/>
                </a:solidFill>
                <a:latin typeface="Arial"/>
                <a:ea typeface="Arial"/>
                <a:cs typeface="Arial"/>
              </a:defRPr>
            </a:lvl4pPr>
            <a:lvl5pPr>
              <a:defRPr sz="2550" b="1">
                <a:solidFill>
                  <a:srgbClr val="0C7C86"/>
                </a:solidFill>
                <a:latin typeface="Arial"/>
                <a:ea typeface="Arial"/>
                <a:cs typeface="Arial"/>
              </a:defRPr>
            </a:lvl5pPr>
            <a:lvl6pPr>
              <a:defRPr sz="2550" b="1">
                <a:solidFill>
                  <a:srgbClr val="0C7C86"/>
                </a:solidFill>
                <a:latin typeface="Arial"/>
                <a:ea typeface="Arial"/>
                <a:cs typeface="Arial"/>
              </a:defRPr>
            </a:lvl6pPr>
            <a:lvl7pPr>
              <a:defRPr sz="2550" b="1">
                <a:solidFill>
                  <a:srgbClr val="0C7C86"/>
                </a:solidFill>
                <a:latin typeface="Arial"/>
                <a:ea typeface="Arial"/>
                <a:cs typeface="Arial"/>
              </a:defRPr>
            </a:lvl7pPr>
            <a:lvl8pPr>
              <a:defRPr sz="2550" b="1">
                <a:solidFill>
                  <a:srgbClr val="0C7C86"/>
                </a:solidFill>
                <a:latin typeface="Arial"/>
                <a:ea typeface="Arial"/>
                <a:cs typeface="Arial"/>
              </a:defRPr>
            </a:lvl8pPr>
            <a:lvl9pPr>
              <a:defRPr sz="2550" b="1">
                <a:solidFill>
                  <a:srgbClr val="0C7C86"/>
                </a:solidFill>
                <a:latin typeface="Arial"/>
                <a:ea typeface="Arial"/>
                <a:cs typeface="Arial"/>
              </a:defRPr>
            </a:lvl9pPr>
          </a:lstStyle>
          <a:p xmlns:a="http://schemas.openxmlformats.org/drawingml/2006/main">
            <a:pPr>
              <a:defRPr sz="2550" b="1">
                <a:solidFill>
                  <a:srgbClr val="0C7C86"/>
                </a:solidFill>
                <a:latin typeface="Arial"/>
                <a:ea typeface="Arial"/>
                <a:cs typeface="Arial"/>
              </a:defRPr>
            </a:pPr>
            <a:r>
              <a:rPr sz="2550" b="1">
                <a:solidFill>
                  <a:srgbClr val="0C7C86"/>
                </a:solidFill>
                <a:latin typeface="Arial"/>
                <a:ea typeface="Arial"/>
                <a:cs typeface="Arial"/>
              </a:rPr>
              <a:t>Frozen selected agent: 797 / 1,000 wins</a:t>
            </a:r>
          </a:p>
        </p:txBody>
      </p:sp>
      <p:sp>
        <p:nvSpPr>
          <p:cNvPr id="6" name="interval">
            <a:extLst xmlns:a="http://schemas.openxmlformats.org/drawingml/2006/main">
              <a:ext uri="{FF2B5EF4-FFF2-40B4-BE49-F238E27FC236}">
                <a16:creationId xmlns:a16="http://schemas.microsoft.com/office/drawing/2014/main" id="{2BD5AC01-DC07-4DEC-8CCF-A0D565BBFB5B}"/>
              </a:ext>
            </a:extLst>
          </p:cNvPr>
          <p:cNvSpPr>
            <a:spLocks xmlns:a="http://schemas.openxmlformats.org/drawingml/2006/main" noGrp="1"/>
          </p:cNvSpPr>
          <p:nvPr/>
        </p:nvSpPr>
        <p:spPr>
          <a:xfrm xmlns:a="http://schemas.openxmlformats.org/drawingml/2006/main">
            <a:off x="723900" y="5600700"/>
            <a:ext cx="1078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36E"/>
                </a:solidFill>
                <a:latin typeface="Arial"/>
                <a:ea typeface="Arial"/>
                <a:cs typeface="Arial"/>
              </a:defRPr>
            </a:defPPr>
            <a:lvl1pPr>
              <a:defRPr sz="1875" b="0">
                <a:solidFill>
                  <a:srgbClr val="52636E"/>
                </a:solidFill>
                <a:latin typeface="Arial"/>
                <a:ea typeface="Arial"/>
                <a:cs typeface="Arial"/>
              </a:defRPr>
            </a:lvl1pPr>
            <a:lvl2pPr>
              <a:defRPr sz="1875" b="0">
                <a:solidFill>
                  <a:srgbClr val="52636E"/>
                </a:solidFill>
                <a:latin typeface="Arial"/>
                <a:ea typeface="Arial"/>
                <a:cs typeface="Arial"/>
              </a:defRPr>
            </a:lvl2pPr>
            <a:lvl3pPr>
              <a:defRPr sz="1875" b="0">
                <a:solidFill>
                  <a:srgbClr val="52636E"/>
                </a:solidFill>
                <a:latin typeface="Arial"/>
                <a:ea typeface="Arial"/>
                <a:cs typeface="Arial"/>
              </a:defRPr>
            </a:lvl3pPr>
            <a:lvl4pPr>
              <a:defRPr sz="1875" b="0">
                <a:solidFill>
                  <a:srgbClr val="52636E"/>
                </a:solidFill>
                <a:latin typeface="Arial"/>
                <a:ea typeface="Arial"/>
                <a:cs typeface="Arial"/>
              </a:defRPr>
            </a:lvl4pPr>
            <a:lvl5pPr>
              <a:defRPr sz="1875" b="0">
                <a:solidFill>
                  <a:srgbClr val="52636E"/>
                </a:solidFill>
                <a:latin typeface="Arial"/>
                <a:ea typeface="Arial"/>
                <a:cs typeface="Arial"/>
              </a:defRPr>
            </a:lvl5pPr>
            <a:lvl6pPr>
              <a:defRPr sz="1875" b="0">
                <a:solidFill>
                  <a:srgbClr val="52636E"/>
                </a:solidFill>
                <a:latin typeface="Arial"/>
                <a:ea typeface="Arial"/>
                <a:cs typeface="Arial"/>
              </a:defRPr>
            </a:lvl6pPr>
            <a:lvl7pPr>
              <a:defRPr sz="1875" b="0">
                <a:solidFill>
                  <a:srgbClr val="52636E"/>
                </a:solidFill>
                <a:latin typeface="Arial"/>
                <a:ea typeface="Arial"/>
                <a:cs typeface="Arial"/>
              </a:defRPr>
            </a:lvl7pPr>
            <a:lvl8pPr>
              <a:defRPr sz="1875" b="0">
                <a:solidFill>
                  <a:srgbClr val="52636E"/>
                </a:solidFill>
                <a:latin typeface="Arial"/>
                <a:ea typeface="Arial"/>
                <a:cs typeface="Arial"/>
              </a:defRPr>
            </a:lvl8pPr>
            <a:lvl9pPr>
              <a:defRPr sz="1875" b="0">
                <a:solidFill>
                  <a:srgbClr val="52636E"/>
                </a:solidFill>
                <a:latin typeface="Arial"/>
                <a:ea typeface="Arial"/>
                <a:cs typeface="Arial"/>
              </a:defRPr>
            </a:lvl9pPr>
          </a:lstStyle>
          <a:p xmlns:a="http://schemas.openxmlformats.org/drawingml/2006/main">
            <a:pPr>
              <a:defRPr sz="1875" b="0">
                <a:solidFill>
                  <a:srgbClr val="52636E"/>
                </a:solidFill>
                <a:latin typeface="Arial"/>
                <a:ea typeface="Arial"/>
                <a:cs typeface="Arial"/>
              </a:defRPr>
            </a:pPr>
            <a:r>
              <a:rPr sz="1875" b="0">
                <a:solidFill>
                  <a:srgbClr val="52636E"/>
                </a:solidFill>
                <a:latin typeface="Arial"/>
                <a:ea typeface="Arial"/>
                <a:cs typeface="Arial"/>
              </a:rPr>
              <a:t>95% interval by board pair: 77.18%–82.22%. Zero faults or clock overruns.</a:t>
            </a:r>
          </a:p>
        </p:txBody>
      </p:sp>
    </p:spTree>
    <p:extLst>
      <p:ext uri="{BB962C8B-B14F-4D97-AF65-F5344CB8AC3E}">
        <p14:creationId xmlns:p14="http://schemas.microsoft.com/office/powerpoint/2010/main" val="656133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06233B9-E528-4CA5-9553-5A494BBBEAE7}"/>
              </a:ext>
            </a:extLst>
          </p:cNvPr>
          <p:cNvSpPr>
            <a:spLocks xmlns:a="http://schemas.openxmlformats.org/drawingml/2006/main" noGrp="1"/>
          </p:cNvSpPr>
          <p:nvPr/>
        </p:nvSpPr>
        <p:spPr>
          <a:xfrm xmlns:a="http://schemas.openxmlformats.org/drawingml/2006/main">
            <a:off x="685800" y="5048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B36"/>
                </a:solidFill>
                <a:latin typeface="Arial"/>
                <a:ea typeface="Arial"/>
                <a:cs typeface="Arial"/>
              </a:defRPr>
            </a:defPPr>
            <a:lvl1pPr>
              <a:defRPr sz="3450" b="1">
                <a:solidFill>
                  <a:srgbClr val="172B36"/>
                </a:solidFill>
                <a:latin typeface="Arial"/>
                <a:ea typeface="Arial"/>
                <a:cs typeface="Arial"/>
              </a:defRPr>
            </a:lvl1pPr>
            <a:lvl2pPr>
              <a:defRPr sz="3450" b="1">
                <a:solidFill>
                  <a:srgbClr val="172B36"/>
                </a:solidFill>
                <a:latin typeface="Arial"/>
                <a:ea typeface="Arial"/>
                <a:cs typeface="Arial"/>
              </a:defRPr>
            </a:lvl2pPr>
            <a:lvl3pPr>
              <a:defRPr sz="3450" b="1">
                <a:solidFill>
                  <a:srgbClr val="172B36"/>
                </a:solidFill>
                <a:latin typeface="Arial"/>
                <a:ea typeface="Arial"/>
                <a:cs typeface="Arial"/>
              </a:defRPr>
            </a:lvl3pPr>
            <a:lvl4pPr>
              <a:defRPr sz="3450" b="1">
                <a:solidFill>
                  <a:srgbClr val="172B36"/>
                </a:solidFill>
                <a:latin typeface="Arial"/>
                <a:ea typeface="Arial"/>
                <a:cs typeface="Arial"/>
              </a:defRPr>
            </a:lvl4pPr>
            <a:lvl5pPr>
              <a:defRPr sz="3450" b="1">
                <a:solidFill>
                  <a:srgbClr val="172B36"/>
                </a:solidFill>
                <a:latin typeface="Arial"/>
                <a:ea typeface="Arial"/>
                <a:cs typeface="Arial"/>
              </a:defRPr>
            </a:lvl5pPr>
            <a:lvl6pPr>
              <a:defRPr sz="3450" b="1">
                <a:solidFill>
                  <a:srgbClr val="172B36"/>
                </a:solidFill>
                <a:latin typeface="Arial"/>
                <a:ea typeface="Arial"/>
                <a:cs typeface="Arial"/>
              </a:defRPr>
            </a:lvl6pPr>
            <a:lvl7pPr>
              <a:defRPr sz="3450" b="1">
                <a:solidFill>
                  <a:srgbClr val="172B36"/>
                </a:solidFill>
                <a:latin typeface="Arial"/>
                <a:ea typeface="Arial"/>
                <a:cs typeface="Arial"/>
              </a:defRPr>
            </a:lvl7pPr>
            <a:lvl8pPr>
              <a:defRPr sz="3450" b="1">
                <a:solidFill>
                  <a:srgbClr val="172B36"/>
                </a:solidFill>
                <a:latin typeface="Arial"/>
                <a:ea typeface="Arial"/>
                <a:cs typeface="Arial"/>
              </a:defRPr>
            </a:lvl8pPr>
            <a:lvl9pPr>
              <a:defRPr sz="3450" b="1">
                <a:solidFill>
                  <a:srgbClr val="172B36"/>
                </a:solidFill>
                <a:latin typeface="Arial"/>
                <a:ea typeface="Arial"/>
                <a:cs typeface="Arial"/>
              </a:defRPr>
            </a:lvl9pPr>
          </a:lstStyle>
          <a:p xmlns:a="http://schemas.openxmlformats.org/drawingml/2006/main">
            <a:pPr>
              <a:defRPr sz="3450" b="1">
                <a:solidFill>
                  <a:srgbClr val="172B36"/>
                </a:solidFill>
                <a:latin typeface="Arial"/>
                <a:ea typeface="Arial"/>
                <a:cs typeface="Arial"/>
              </a:defRPr>
            </a:pPr>
            <a:r>
              <a:rPr sz="3450" b="1">
                <a:solidFill>
                  <a:srgbClr val="172B36"/>
                </a:solidFill>
                <a:latin typeface="Arial"/>
                <a:ea typeface="Arial"/>
                <a:cs typeface="Arial"/>
              </a:rPr>
              <a:t>What the experiments taught us</a:t>
            </a:r>
          </a:p>
        </p:txBody>
      </p:sp>
      <p:sp>
        <p:nvSpPr>
          <p:cNvPr id="2" name="page-number">
            <a:extLst xmlns:a="http://schemas.openxmlformats.org/drawingml/2006/main">
              <a:ext uri="{FF2B5EF4-FFF2-40B4-BE49-F238E27FC236}">
                <a16:creationId xmlns:a16="http://schemas.microsoft.com/office/drawing/2014/main" id="{ED7F13BC-4F7D-4670-81E8-6A1E4B8B766E}"/>
              </a:ext>
            </a:extLst>
          </p:cNvPr>
          <p:cNvSpPr>
            <a:spLocks xmlns:a="http://schemas.openxmlformats.org/drawingml/2006/main" noGrp="1"/>
          </p:cNvSpPr>
          <p:nvPr/>
        </p:nvSpPr>
        <p:spPr>
          <a:xfrm xmlns:a="http://schemas.openxmlformats.org/drawingml/2006/main">
            <a:off x="11049000" y="63246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36E"/>
                </a:solidFill>
                <a:latin typeface="Arial"/>
                <a:ea typeface="Arial"/>
                <a:cs typeface="Arial"/>
              </a:defRPr>
            </a:defPPr>
            <a:lvl1pPr>
              <a:defRPr sz="1725" b="0">
                <a:solidFill>
                  <a:srgbClr val="52636E"/>
                </a:solidFill>
                <a:latin typeface="Arial"/>
                <a:ea typeface="Arial"/>
                <a:cs typeface="Arial"/>
              </a:defRPr>
            </a:lvl1pPr>
            <a:lvl2pPr>
              <a:defRPr sz="1725" b="0">
                <a:solidFill>
                  <a:srgbClr val="52636E"/>
                </a:solidFill>
                <a:latin typeface="Arial"/>
                <a:ea typeface="Arial"/>
                <a:cs typeface="Arial"/>
              </a:defRPr>
            </a:lvl2pPr>
            <a:lvl3pPr>
              <a:defRPr sz="1725" b="0">
                <a:solidFill>
                  <a:srgbClr val="52636E"/>
                </a:solidFill>
                <a:latin typeface="Arial"/>
                <a:ea typeface="Arial"/>
                <a:cs typeface="Arial"/>
              </a:defRPr>
            </a:lvl3pPr>
            <a:lvl4pPr>
              <a:defRPr sz="1725" b="0">
                <a:solidFill>
                  <a:srgbClr val="52636E"/>
                </a:solidFill>
                <a:latin typeface="Arial"/>
                <a:ea typeface="Arial"/>
                <a:cs typeface="Arial"/>
              </a:defRPr>
            </a:lvl4pPr>
            <a:lvl5pPr>
              <a:defRPr sz="1725" b="0">
                <a:solidFill>
                  <a:srgbClr val="52636E"/>
                </a:solidFill>
                <a:latin typeface="Arial"/>
                <a:ea typeface="Arial"/>
                <a:cs typeface="Arial"/>
              </a:defRPr>
            </a:lvl5pPr>
            <a:lvl6pPr>
              <a:defRPr sz="1725" b="0">
                <a:solidFill>
                  <a:srgbClr val="52636E"/>
                </a:solidFill>
                <a:latin typeface="Arial"/>
                <a:ea typeface="Arial"/>
                <a:cs typeface="Arial"/>
              </a:defRPr>
            </a:lvl6pPr>
            <a:lvl7pPr>
              <a:defRPr sz="1725" b="0">
                <a:solidFill>
                  <a:srgbClr val="52636E"/>
                </a:solidFill>
                <a:latin typeface="Arial"/>
                <a:ea typeface="Arial"/>
                <a:cs typeface="Arial"/>
              </a:defRPr>
            </a:lvl7pPr>
            <a:lvl8pPr>
              <a:defRPr sz="1725" b="0">
                <a:solidFill>
                  <a:srgbClr val="52636E"/>
                </a:solidFill>
                <a:latin typeface="Arial"/>
                <a:ea typeface="Arial"/>
                <a:cs typeface="Arial"/>
              </a:defRPr>
            </a:lvl8pPr>
            <a:lvl9pPr>
              <a:defRPr sz="1725" b="0">
                <a:solidFill>
                  <a:srgbClr val="52636E"/>
                </a:solidFill>
                <a:latin typeface="Arial"/>
                <a:ea typeface="Arial"/>
                <a:cs typeface="Arial"/>
              </a:defRPr>
            </a:lvl9pPr>
          </a:lstStyle>
          <a:p xmlns:a="http://schemas.openxmlformats.org/drawingml/2006/main">
            <a:pPr>
              <a:defRPr sz="1725" b="0">
                <a:solidFill>
                  <a:srgbClr val="52636E"/>
                </a:solidFill>
                <a:latin typeface="Arial"/>
                <a:ea typeface="Arial"/>
                <a:cs typeface="Arial"/>
              </a:defRPr>
            </a:pPr>
            <a:r>
              <a:rPr sz="1725" b="0">
                <a:solidFill>
                  <a:srgbClr val="52636E"/>
                </a:solidFill>
                <a:latin typeface="Arial"/>
                <a:ea typeface="Arial"/>
                <a:cs typeface="Arial"/>
              </a:rPr>
              <a:t>5</a:t>
            </a:r>
          </a:p>
        </p:txBody>
      </p:sp>
      <p:sp>
        <p:nvSpPr>
          <p:cNvPr id="3" name="search-label">
            <a:extLst xmlns:a="http://schemas.openxmlformats.org/drawingml/2006/main">
              <a:ext uri="{FF2B5EF4-FFF2-40B4-BE49-F238E27FC236}">
                <a16:creationId xmlns:a16="http://schemas.microsoft.com/office/drawing/2014/main" id="{91DC00FE-3861-4A52-839E-08E6181DD878}"/>
              </a:ext>
            </a:extLst>
          </p:cNvPr>
          <p:cNvSpPr>
            <a:spLocks xmlns:a="http://schemas.openxmlformats.org/drawingml/2006/main" noGrp="1"/>
          </p:cNvSpPr>
          <p:nvPr/>
        </p:nvSpPr>
        <p:spPr>
          <a:xfrm xmlns:a="http://schemas.openxmlformats.org/drawingml/2006/main">
            <a:off x="685800" y="15144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36E"/>
                </a:solidFill>
                <a:latin typeface="Arial"/>
                <a:ea typeface="Arial"/>
                <a:cs typeface="Arial"/>
              </a:defRPr>
            </a:defPPr>
            <a:lvl1pPr>
              <a:defRPr sz="2025" b="0">
                <a:solidFill>
                  <a:srgbClr val="52636E"/>
                </a:solidFill>
                <a:latin typeface="Arial"/>
                <a:ea typeface="Arial"/>
                <a:cs typeface="Arial"/>
              </a:defRPr>
            </a:lvl1pPr>
            <a:lvl2pPr>
              <a:defRPr sz="2025" b="0">
                <a:solidFill>
                  <a:srgbClr val="52636E"/>
                </a:solidFill>
                <a:latin typeface="Arial"/>
                <a:ea typeface="Arial"/>
                <a:cs typeface="Arial"/>
              </a:defRPr>
            </a:lvl2pPr>
            <a:lvl3pPr>
              <a:defRPr sz="2025" b="0">
                <a:solidFill>
                  <a:srgbClr val="52636E"/>
                </a:solidFill>
                <a:latin typeface="Arial"/>
                <a:ea typeface="Arial"/>
                <a:cs typeface="Arial"/>
              </a:defRPr>
            </a:lvl3pPr>
            <a:lvl4pPr>
              <a:defRPr sz="2025" b="0">
                <a:solidFill>
                  <a:srgbClr val="52636E"/>
                </a:solidFill>
                <a:latin typeface="Arial"/>
                <a:ea typeface="Arial"/>
                <a:cs typeface="Arial"/>
              </a:defRPr>
            </a:lvl4pPr>
            <a:lvl5pPr>
              <a:defRPr sz="2025" b="0">
                <a:solidFill>
                  <a:srgbClr val="52636E"/>
                </a:solidFill>
                <a:latin typeface="Arial"/>
                <a:ea typeface="Arial"/>
                <a:cs typeface="Arial"/>
              </a:defRPr>
            </a:lvl5pPr>
            <a:lvl6pPr>
              <a:defRPr sz="2025" b="0">
                <a:solidFill>
                  <a:srgbClr val="52636E"/>
                </a:solidFill>
                <a:latin typeface="Arial"/>
                <a:ea typeface="Arial"/>
                <a:cs typeface="Arial"/>
              </a:defRPr>
            </a:lvl6pPr>
            <a:lvl7pPr>
              <a:defRPr sz="2025" b="0">
                <a:solidFill>
                  <a:srgbClr val="52636E"/>
                </a:solidFill>
                <a:latin typeface="Arial"/>
                <a:ea typeface="Arial"/>
                <a:cs typeface="Arial"/>
              </a:defRPr>
            </a:lvl7pPr>
            <a:lvl8pPr>
              <a:defRPr sz="2025" b="0">
                <a:solidFill>
                  <a:srgbClr val="52636E"/>
                </a:solidFill>
                <a:latin typeface="Arial"/>
                <a:ea typeface="Arial"/>
                <a:cs typeface="Arial"/>
              </a:defRPr>
            </a:lvl8pPr>
            <a:lvl9pPr>
              <a:defRPr sz="2025" b="0">
                <a:solidFill>
                  <a:srgbClr val="52636E"/>
                </a:solidFill>
                <a:latin typeface="Arial"/>
                <a:ea typeface="Arial"/>
                <a:cs typeface="Arial"/>
              </a:defRPr>
            </a:lvl9pPr>
          </a:lstStyle>
          <a:p xmlns:a="http://schemas.openxmlformats.org/drawingml/2006/main">
            <a:pPr>
              <a:defRPr sz="2025" b="0">
                <a:solidFill>
                  <a:srgbClr val="52636E"/>
                </a:solidFill>
                <a:latin typeface="Arial"/>
                <a:ea typeface="Arial"/>
                <a:cs typeface="Arial"/>
              </a:defRPr>
            </a:pPr>
            <a:r>
              <a:rPr sz="2025" b="0">
                <a:solidFill>
                  <a:srgbClr val="52636E"/>
                </a:solidFill>
                <a:latin typeface="Arial"/>
                <a:ea typeface="Arial"/>
                <a:cs typeface="Arial"/>
              </a:rPr>
              <a:t>Search variants on a common 400-game screen</a:t>
            </a:r>
          </a:p>
        </p:txBody>
      </p:sp>
      <p:graphicFrame>
        <p:nvGraphicFramePr>
          <p:cNvPr id="4" name="">
            <a:extLst xmlns:a="http://schemas.openxmlformats.org/drawingml/2006/main">
              <a:ext uri="{FF2B5EF4-FFF2-40B4-BE49-F238E27FC236}">
                <a16:creationId xmlns:a16="http://schemas.microsoft.com/office/drawing/2014/main" id="{C43F7BE8-E026-40C9-B9F8-A8F0AF7FA645}"/>
              </a:ext>
            </a:extLst>
          </p:cNvPr>
          <p:cNvGraphicFramePr/>
          <p:nvPr/>
        </p:nvGraphicFramePr>
        <p:xfrm>
          <a:off xmlns:a="http://schemas.openxmlformats.org/drawingml/2006/main" x="685800" y="2095500"/>
          <a:ext xmlns:a="http://schemas.openxmlformats.org/drawingml/2006/main" cx="10820400" cy="2571750"/>
        </p:xfrm>
        <a:graphic xmlns:a="http://schemas.openxmlformats.org/drawingml/2006/main">
          <a:graphicData uri="http://schemas.openxmlformats.org/drawingml/2006/table">
            <a:tbl>
              <a:tblPr/>
              <a:tblGrid>
                <a:gridCol w="5391150"/>
                <a:gridCol w="2381250"/>
                <a:gridCol w="3048000"/>
              </a:tblGrid>
              <a:tr h="642938">
                <a:tc>
                  <a:txBody>
                    <a:bodyPr/>
                    <a:lstStyle/>
                    <a:p>
                      <a:r>
                        <a:rPr sz="1875" b="1">
                          <a:solidFill>
                            <a:srgbClr val="FFFFFF"/>
                          </a:solidFill>
                          <a:latin typeface="Arial"/>
                          <a:ea typeface="Arial"/>
                          <a:cs typeface="Arial"/>
                        </a:rPr>
                        <a:t>Search variant</a:t>
                      </a:r>
                    </a:p>
                  </a:txBody>
                  <a:tcPr marL="152400" marR="133350" marT="114300" marB="114300" anchor="ctr">
                    <a:lnL w="9525">
                      <a:solidFill>
                        <a:srgbClr val="D9E0E4"/>
                      </a:solidFill>
                      <a:prstDash val="solid"/>
                    </a:lnL>
                    <a:lnR w="9525">
                      <a:solidFill>
                        <a:srgbClr val="D9E0E4"/>
                      </a:solidFill>
                      <a:prstDash val="solid"/>
                    </a:lnR>
                    <a:lnT w="9525">
                      <a:solidFill>
                        <a:srgbClr val="D9E0E4"/>
                      </a:solidFill>
                      <a:prstDash val="solid"/>
                    </a:lnT>
                    <a:lnB w="9525">
                      <a:solidFill>
                        <a:srgbClr val="D9E0E4"/>
                      </a:solidFill>
                      <a:prstDash val="solid"/>
                    </a:lnB>
                    <a:solidFill>
                      <a:srgbClr val="173947"/>
                    </a:solidFill>
                  </a:tcPr>
                </a:tc>
                <a:tc>
                  <a:txBody>
                    <a:bodyPr/>
                    <a:lstStyle/>
                    <a:p>
                      <a:r>
                        <a:rPr sz="1875" b="1">
                          <a:solidFill>
                            <a:srgbClr val="FFFFFF"/>
                          </a:solidFill>
                          <a:latin typeface="Arial"/>
                          <a:ea typeface="Arial"/>
                          <a:cs typeface="Arial"/>
                        </a:rPr>
                        <a:t>Wins</a:t>
                      </a:r>
                    </a:p>
                  </a:txBody>
                  <a:tcPr marL="152400" marR="133350" marT="114300" marB="114300" anchor="ctr">
                    <a:lnR w="9525">
                      <a:solidFill>
                        <a:srgbClr val="D9E0E4"/>
                      </a:solidFill>
                      <a:prstDash val="solid"/>
                    </a:lnR>
                    <a:lnT w="9525">
                      <a:solidFill>
                        <a:srgbClr val="D9E0E4"/>
                      </a:solidFill>
                      <a:prstDash val="solid"/>
                    </a:lnT>
                    <a:lnB w="9525">
                      <a:solidFill>
                        <a:srgbClr val="D9E0E4"/>
                      </a:solidFill>
                      <a:prstDash val="solid"/>
                    </a:lnB>
                    <a:solidFill>
                      <a:srgbClr val="173947"/>
                    </a:solidFill>
                  </a:tcPr>
                </a:tc>
                <a:tc>
                  <a:txBody>
                    <a:bodyPr/>
                    <a:lstStyle/>
                    <a:p>
                      <a:r>
                        <a:rPr sz="1875" b="1">
                          <a:solidFill>
                            <a:srgbClr val="FFFFFF"/>
                          </a:solidFill>
                          <a:latin typeface="Arial"/>
                          <a:ea typeface="Arial"/>
                          <a:cs typeface="Arial"/>
                        </a:rPr>
                        <a:t>Mean local CPU</a:t>
                      </a:r>
                    </a:p>
                  </a:txBody>
                  <a:tcPr marL="152400" marR="133350" marT="114300" marB="114300" anchor="ctr">
                    <a:lnR w="9525">
                      <a:solidFill>
                        <a:srgbClr val="D9E0E4"/>
                      </a:solidFill>
                      <a:prstDash val="solid"/>
                    </a:lnR>
                    <a:lnT w="9525">
                      <a:solidFill>
                        <a:srgbClr val="D9E0E4"/>
                      </a:solidFill>
                      <a:prstDash val="solid"/>
                    </a:lnT>
                    <a:lnB w="9525">
                      <a:solidFill>
                        <a:srgbClr val="D9E0E4"/>
                      </a:solidFill>
                      <a:prstDash val="solid"/>
                    </a:lnB>
                    <a:solidFill>
                      <a:srgbClr val="173947"/>
                    </a:solidFill>
                  </a:tcPr>
                </a:tc>
              </a:tr>
              <a:tr h="642938">
                <a:tc>
                  <a:txBody>
                    <a:bodyPr/>
                    <a:lstStyle/>
                    <a:p>
                      <a:r>
                        <a:rPr sz="1875" b="0">
                          <a:solidFill>
                            <a:srgbClr val="172B36"/>
                          </a:solidFill>
                          <a:latin typeface="Arial"/>
                          <a:ea typeface="Arial"/>
                          <a:cs typeface="Arial"/>
                        </a:rPr>
                        <a:t>Compact beam</a:t>
                      </a:r>
                    </a:p>
                  </a:txBody>
                  <a:tcPr marL="152400" marR="133350" marT="114300" marB="114300" anchor="ctr">
                    <a:lnL w="9525">
                      <a:solidFill>
                        <a:srgbClr val="D9E0E4"/>
                      </a:solidFill>
                      <a:prstDash val="solid"/>
                    </a:lnL>
                    <a:lnR w="9525">
                      <a:solidFill>
                        <a:srgbClr val="D9E0E4"/>
                      </a:solidFill>
                      <a:prstDash val="solid"/>
                    </a:lnR>
                    <a:lnB w="9525">
                      <a:solidFill>
                        <a:srgbClr val="D9E0E4"/>
                      </a:solidFill>
                      <a:prstDash val="solid"/>
                    </a:lnB>
                    <a:solidFill>
                      <a:srgbClr val="FFFFFF"/>
                    </a:solidFill>
                  </a:tcPr>
                </a:tc>
                <a:tc>
                  <a:txBody>
                    <a:bodyPr/>
                    <a:lstStyle/>
                    <a:p>
                      <a:r>
                        <a:rPr sz="1875" b="0">
                          <a:solidFill>
                            <a:srgbClr val="172B36"/>
                          </a:solidFill>
                          <a:latin typeface="Arial"/>
                          <a:ea typeface="Arial"/>
                          <a:cs typeface="Arial"/>
                        </a:rPr>
                        <a:t>331 / 400</a:t>
                      </a:r>
                    </a:p>
                  </a:txBody>
                  <a:tcPr marL="152400" marR="133350" marT="114300" marB="114300" anchor="ctr">
                    <a:lnR w="9525">
                      <a:solidFill>
                        <a:srgbClr val="D9E0E4"/>
                      </a:solidFill>
                      <a:prstDash val="solid"/>
                    </a:lnR>
                    <a:lnB w="9525">
                      <a:solidFill>
                        <a:srgbClr val="D9E0E4"/>
                      </a:solidFill>
                      <a:prstDash val="solid"/>
                    </a:lnB>
                    <a:solidFill>
                      <a:srgbClr val="FFFFFF"/>
                    </a:solidFill>
                  </a:tcPr>
                </a:tc>
                <a:tc>
                  <a:txBody>
                    <a:bodyPr/>
                    <a:lstStyle/>
                    <a:p>
                      <a:r>
                        <a:rPr sz="1875" b="0">
                          <a:solidFill>
                            <a:srgbClr val="172B36"/>
                          </a:solidFill>
                          <a:latin typeface="Arial"/>
                          <a:ea typeface="Arial"/>
                          <a:cs typeface="Arial"/>
                        </a:rPr>
                        <a:t>336.8 ms</a:t>
                      </a:r>
                    </a:p>
                  </a:txBody>
                  <a:tcPr marL="152400" marR="133350" marT="114300" marB="114300" anchor="ctr">
                    <a:lnR w="9525">
                      <a:solidFill>
                        <a:srgbClr val="D9E0E4"/>
                      </a:solidFill>
                      <a:prstDash val="solid"/>
                    </a:lnR>
                    <a:lnB w="9525">
                      <a:solidFill>
                        <a:srgbClr val="D9E0E4"/>
                      </a:solidFill>
                      <a:prstDash val="solid"/>
                    </a:lnB>
                    <a:solidFill>
                      <a:srgbClr val="FFFFFF"/>
                    </a:solidFill>
                  </a:tcPr>
                </a:tc>
              </a:tr>
              <a:tr h="642938">
                <a:tc>
                  <a:txBody>
                    <a:bodyPr/>
                    <a:lstStyle/>
                    <a:p>
                      <a:r>
                        <a:rPr sz="1875" b="0">
                          <a:solidFill>
                            <a:srgbClr val="172B36"/>
                          </a:solidFill>
                          <a:latin typeface="Arial"/>
                          <a:ea typeface="Arial"/>
                          <a:cs typeface="Arial"/>
                        </a:rPr>
                        <a:t>Broad beam</a:t>
                      </a:r>
                    </a:p>
                  </a:txBody>
                  <a:tcPr marL="152400" marR="133350" marT="114300" marB="114300" anchor="ctr">
                    <a:lnL w="9525">
                      <a:solidFill>
                        <a:srgbClr val="D9E0E4"/>
                      </a:solidFill>
                      <a:prstDash val="solid"/>
                    </a:lnL>
                    <a:lnR w="9525">
                      <a:solidFill>
                        <a:srgbClr val="D9E0E4"/>
                      </a:solidFill>
                      <a:prstDash val="solid"/>
                    </a:lnR>
                    <a:lnB w="9525">
                      <a:solidFill>
                        <a:srgbClr val="D9E0E4"/>
                      </a:solidFill>
                      <a:prstDash val="solid"/>
                    </a:lnB>
                    <a:solidFill>
                      <a:srgbClr val="F1F5F7"/>
                    </a:solidFill>
                  </a:tcPr>
                </a:tc>
                <a:tc>
                  <a:txBody>
                    <a:bodyPr/>
                    <a:lstStyle/>
                    <a:p>
                      <a:r>
                        <a:rPr sz="1875" b="0">
                          <a:solidFill>
                            <a:srgbClr val="172B36"/>
                          </a:solidFill>
                          <a:latin typeface="Arial"/>
                          <a:ea typeface="Arial"/>
                          <a:cs typeface="Arial"/>
                        </a:rPr>
                        <a:t>329 / 400</a:t>
                      </a:r>
                    </a:p>
                  </a:txBody>
                  <a:tcPr marL="152400" marR="133350" marT="114300" marB="114300" anchor="ctr">
                    <a:lnR w="9525">
                      <a:solidFill>
                        <a:srgbClr val="D9E0E4"/>
                      </a:solidFill>
                      <a:prstDash val="solid"/>
                    </a:lnR>
                    <a:lnB w="9525">
                      <a:solidFill>
                        <a:srgbClr val="D9E0E4"/>
                      </a:solidFill>
                      <a:prstDash val="solid"/>
                    </a:lnB>
                    <a:solidFill>
                      <a:srgbClr val="F1F5F7"/>
                    </a:solidFill>
                  </a:tcPr>
                </a:tc>
                <a:tc>
                  <a:txBody>
                    <a:bodyPr/>
                    <a:lstStyle/>
                    <a:p>
                      <a:r>
                        <a:rPr sz="1875" b="0">
                          <a:solidFill>
                            <a:srgbClr val="172B36"/>
                          </a:solidFill>
                          <a:latin typeface="Arial"/>
                          <a:ea typeface="Arial"/>
                          <a:cs typeface="Arial"/>
                        </a:rPr>
                        <a:t>528.6 ms</a:t>
                      </a:r>
                    </a:p>
                  </a:txBody>
                  <a:tcPr marL="152400" marR="133350" marT="114300" marB="114300" anchor="ctr">
                    <a:lnR w="9525">
                      <a:solidFill>
                        <a:srgbClr val="D9E0E4"/>
                      </a:solidFill>
                      <a:prstDash val="solid"/>
                    </a:lnR>
                    <a:lnB w="9525">
                      <a:solidFill>
                        <a:srgbClr val="D9E0E4"/>
                      </a:solidFill>
                      <a:prstDash val="solid"/>
                    </a:lnB>
                    <a:solidFill>
                      <a:srgbClr val="F1F5F7"/>
                    </a:solidFill>
                  </a:tcPr>
                </a:tc>
              </a:tr>
              <a:tr h="642938">
                <a:tc>
                  <a:txBody>
                    <a:bodyPr/>
                    <a:lstStyle/>
                    <a:p>
                      <a:r>
                        <a:rPr sz="1875" b="0">
                          <a:solidFill>
                            <a:srgbClr val="172B36"/>
                          </a:solidFill>
                          <a:latin typeface="Arial"/>
                          <a:ea typeface="Arial"/>
                          <a:cs typeface="Arial"/>
                        </a:rPr>
                        <a:t>Wide beam</a:t>
                      </a:r>
                    </a:p>
                  </a:txBody>
                  <a:tcPr marL="152400" marR="133350" marT="114300" marB="114300" anchor="ctr">
                    <a:lnL w="9525">
                      <a:solidFill>
                        <a:srgbClr val="D9E0E4"/>
                      </a:solidFill>
                      <a:prstDash val="solid"/>
                    </a:lnL>
                    <a:lnR w="9525">
                      <a:solidFill>
                        <a:srgbClr val="D9E0E4"/>
                      </a:solidFill>
                      <a:prstDash val="solid"/>
                    </a:lnR>
                    <a:lnB w="9525">
                      <a:solidFill>
                        <a:srgbClr val="D9E0E4"/>
                      </a:solidFill>
                      <a:prstDash val="solid"/>
                    </a:lnB>
                    <a:solidFill>
                      <a:srgbClr val="FFFFFF"/>
                    </a:solidFill>
                  </a:tcPr>
                </a:tc>
                <a:tc>
                  <a:txBody>
                    <a:bodyPr/>
                    <a:lstStyle/>
                    <a:p>
                      <a:r>
                        <a:rPr sz="1875" b="0">
                          <a:solidFill>
                            <a:srgbClr val="172B36"/>
                          </a:solidFill>
                          <a:latin typeface="Arial"/>
                          <a:ea typeface="Arial"/>
                          <a:cs typeface="Arial"/>
                        </a:rPr>
                        <a:t>327 / 400</a:t>
                      </a:r>
                    </a:p>
                  </a:txBody>
                  <a:tcPr marL="152400" marR="133350" marT="114300" marB="114300" anchor="ctr">
                    <a:lnR w="9525">
                      <a:solidFill>
                        <a:srgbClr val="D9E0E4"/>
                      </a:solidFill>
                      <a:prstDash val="solid"/>
                    </a:lnR>
                    <a:lnB w="9525">
                      <a:solidFill>
                        <a:srgbClr val="D9E0E4"/>
                      </a:solidFill>
                      <a:prstDash val="solid"/>
                    </a:lnB>
                    <a:solidFill>
                      <a:srgbClr val="FFFFFF"/>
                    </a:solidFill>
                  </a:tcPr>
                </a:tc>
                <a:tc>
                  <a:txBody>
                    <a:bodyPr/>
                    <a:lstStyle/>
                    <a:p>
                      <a:r>
                        <a:rPr sz="1875" b="0">
                          <a:solidFill>
                            <a:srgbClr val="172B36"/>
                          </a:solidFill>
                          <a:latin typeface="Arial"/>
                          <a:ea typeface="Arial"/>
                          <a:cs typeface="Arial"/>
                        </a:rPr>
                        <a:t>443.9 ms</a:t>
                      </a:r>
                    </a:p>
                  </a:txBody>
                  <a:tcPr marL="152400" marR="133350" marT="114300" marB="114300" anchor="ctr">
                    <a:lnR w="9525">
                      <a:solidFill>
                        <a:srgbClr val="D9E0E4"/>
                      </a:solidFill>
                      <a:prstDash val="solid"/>
                    </a:lnR>
                    <a:lnB w="9525">
                      <a:solidFill>
                        <a:srgbClr val="D9E0E4"/>
                      </a:solidFill>
                      <a:prstDash val="solid"/>
                    </a:lnB>
                    <a:solidFill>
                      <a:srgbClr val="FFFFFF"/>
                    </a:solidFill>
                  </a:tcPr>
                </a:tc>
              </a:tr>
            </a:tbl>
          </a:graphicData>
        </a:graphic>
      </p:graphicFrame>
      <p:sp>
        <p:nvSpPr>
          <p:cNvPr id="5" name="search-lesson">
            <a:extLst xmlns:a="http://schemas.openxmlformats.org/drawingml/2006/main">
              <a:ext uri="{FF2B5EF4-FFF2-40B4-BE49-F238E27FC236}">
                <a16:creationId xmlns:a16="http://schemas.microsoft.com/office/drawing/2014/main" id="{F30C508E-F7F0-41F3-A304-AD4DD1DF6955}"/>
              </a:ext>
            </a:extLst>
          </p:cNvPr>
          <p:cNvSpPr>
            <a:spLocks xmlns:a="http://schemas.openxmlformats.org/drawingml/2006/main" noGrp="1"/>
          </p:cNvSpPr>
          <p:nvPr/>
        </p:nvSpPr>
        <p:spPr>
          <a:xfrm xmlns:a="http://schemas.openxmlformats.org/drawingml/2006/main">
            <a:off x="723900" y="4962525"/>
            <a:ext cx="10782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C7C86"/>
                </a:solidFill>
                <a:latin typeface="Arial"/>
                <a:ea typeface="Arial"/>
                <a:cs typeface="Arial"/>
              </a:defRPr>
            </a:defPPr>
            <a:lvl1pPr>
              <a:defRPr sz="2325" b="1">
                <a:solidFill>
                  <a:srgbClr val="0C7C86"/>
                </a:solidFill>
                <a:latin typeface="Arial"/>
                <a:ea typeface="Arial"/>
                <a:cs typeface="Arial"/>
              </a:defRPr>
            </a:lvl1pPr>
            <a:lvl2pPr>
              <a:defRPr sz="2325" b="1">
                <a:solidFill>
                  <a:srgbClr val="0C7C86"/>
                </a:solidFill>
                <a:latin typeface="Arial"/>
                <a:ea typeface="Arial"/>
                <a:cs typeface="Arial"/>
              </a:defRPr>
            </a:lvl2pPr>
            <a:lvl3pPr>
              <a:defRPr sz="2325" b="1">
                <a:solidFill>
                  <a:srgbClr val="0C7C86"/>
                </a:solidFill>
                <a:latin typeface="Arial"/>
                <a:ea typeface="Arial"/>
                <a:cs typeface="Arial"/>
              </a:defRPr>
            </a:lvl3pPr>
            <a:lvl4pPr>
              <a:defRPr sz="2325" b="1">
                <a:solidFill>
                  <a:srgbClr val="0C7C86"/>
                </a:solidFill>
                <a:latin typeface="Arial"/>
                <a:ea typeface="Arial"/>
                <a:cs typeface="Arial"/>
              </a:defRPr>
            </a:lvl4pPr>
            <a:lvl5pPr>
              <a:defRPr sz="2325" b="1">
                <a:solidFill>
                  <a:srgbClr val="0C7C86"/>
                </a:solidFill>
                <a:latin typeface="Arial"/>
                <a:ea typeface="Arial"/>
                <a:cs typeface="Arial"/>
              </a:defRPr>
            </a:lvl5pPr>
            <a:lvl6pPr>
              <a:defRPr sz="2325" b="1">
                <a:solidFill>
                  <a:srgbClr val="0C7C86"/>
                </a:solidFill>
                <a:latin typeface="Arial"/>
                <a:ea typeface="Arial"/>
                <a:cs typeface="Arial"/>
              </a:defRPr>
            </a:lvl6pPr>
            <a:lvl7pPr>
              <a:defRPr sz="2325" b="1">
                <a:solidFill>
                  <a:srgbClr val="0C7C86"/>
                </a:solidFill>
                <a:latin typeface="Arial"/>
                <a:ea typeface="Arial"/>
                <a:cs typeface="Arial"/>
              </a:defRPr>
            </a:lvl7pPr>
            <a:lvl8pPr>
              <a:defRPr sz="2325" b="1">
                <a:solidFill>
                  <a:srgbClr val="0C7C86"/>
                </a:solidFill>
                <a:latin typeface="Arial"/>
                <a:ea typeface="Arial"/>
                <a:cs typeface="Arial"/>
              </a:defRPr>
            </a:lvl8pPr>
            <a:lvl9pPr>
              <a:defRPr sz="2325" b="1">
                <a:solidFill>
                  <a:srgbClr val="0C7C86"/>
                </a:solidFill>
                <a:latin typeface="Arial"/>
                <a:ea typeface="Arial"/>
                <a:cs typeface="Arial"/>
              </a:defRPr>
            </a:lvl9pPr>
          </a:lstStyle>
          <a:p xmlns:a="http://schemas.openxmlformats.org/drawingml/2006/main">
            <a:pPr>
              <a:defRPr sz="2325" b="1">
                <a:solidFill>
                  <a:srgbClr val="0C7C86"/>
                </a:solidFill>
                <a:latin typeface="Arial"/>
                <a:ea typeface="Arial"/>
                <a:cs typeface="Arial"/>
              </a:defRPr>
            </a:pPr>
            <a:r>
              <a:rPr sz="2325" b="1">
                <a:solidFill>
                  <a:srgbClr val="0C7C86"/>
                </a:solidFill>
                <a:latin typeface="Arial"/>
                <a:ea typeface="Arial"/>
                <a:cs typeface="Arial"/>
              </a:rPr>
              <a:t>More compute did not produce a measured advantage.</a:t>
            </a:r>
          </a:p>
        </p:txBody>
      </p:sp>
      <p:sp>
        <p:nvSpPr>
          <p:cNvPr id="6" name="card-lesson">
            <a:extLst xmlns:a="http://schemas.openxmlformats.org/drawingml/2006/main">
              <a:ext uri="{FF2B5EF4-FFF2-40B4-BE49-F238E27FC236}">
                <a16:creationId xmlns:a16="http://schemas.microsoft.com/office/drawing/2014/main" id="{5C760787-76AC-4081-8C45-802D4C6AC118}"/>
              </a:ext>
            </a:extLst>
          </p:cNvPr>
          <p:cNvSpPr>
            <a:spLocks xmlns:a="http://schemas.openxmlformats.org/drawingml/2006/main" noGrp="1"/>
          </p:cNvSpPr>
          <p:nvPr/>
        </p:nvSpPr>
        <p:spPr>
          <a:xfrm xmlns:a="http://schemas.openxmlformats.org/drawingml/2006/main">
            <a:off x="723900" y="5610225"/>
            <a:ext cx="1078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36E"/>
                </a:solidFill>
                <a:latin typeface="Arial"/>
                <a:ea typeface="Arial"/>
                <a:cs typeface="Arial"/>
              </a:defRPr>
            </a:defPPr>
            <a:lvl1pPr>
              <a:defRPr sz="1875" b="0">
                <a:solidFill>
                  <a:srgbClr val="52636E"/>
                </a:solidFill>
                <a:latin typeface="Arial"/>
                <a:ea typeface="Arial"/>
                <a:cs typeface="Arial"/>
              </a:defRPr>
            </a:lvl1pPr>
            <a:lvl2pPr>
              <a:defRPr sz="1875" b="0">
                <a:solidFill>
                  <a:srgbClr val="52636E"/>
                </a:solidFill>
                <a:latin typeface="Arial"/>
                <a:ea typeface="Arial"/>
                <a:cs typeface="Arial"/>
              </a:defRPr>
            </a:lvl2pPr>
            <a:lvl3pPr>
              <a:defRPr sz="1875" b="0">
                <a:solidFill>
                  <a:srgbClr val="52636E"/>
                </a:solidFill>
                <a:latin typeface="Arial"/>
                <a:ea typeface="Arial"/>
                <a:cs typeface="Arial"/>
              </a:defRPr>
            </a:lvl3pPr>
            <a:lvl4pPr>
              <a:defRPr sz="1875" b="0">
                <a:solidFill>
                  <a:srgbClr val="52636E"/>
                </a:solidFill>
                <a:latin typeface="Arial"/>
                <a:ea typeface="Arial"/>
                <a:cs typeface="Arial"/>
              </a:defRPr>
            </a:lvl4pPr>
            <a:lvl5pPr>
              <a:defRPr sz="1875" b="0">
                <a:solidFill>
                  <a:srgbClr val="52636E"/>
                </a:solidFill>
                <a:latin typeface="Arial"/>
                <a:ea typeface="Arial"/>
                <a:cs typeface="Arial"/>
              </a:defRPr>
            </a:lvl5pPr>
            <a:lvl6pPr>
              <a:defRPr sz="1875" b="0">
                <a:solidFill>
                  <a:srgbClr val="52636E"/>
                </a:solidFill>
                <a:latin typeface="Arial"/>
                <a:ea typeface="Arial"/>
                <a:cs typeface="Arial"/>
              </a:defRPr>
            </a:lvl6pPr>
            <a:lvl7pPr>
              <a:defRPr sz="1875" b="0">
                <a:solidFill>
                  <a:srgbClr val="52636E"/>
                </a:solidFill>
                <a:latin typeface="Arial"/>
                <a:ea typeface="Arial"/>
                <a:cs typeface="Arial"/>
              </a:defRPr>
            </a:lvl7pPr>
            <a:lvl8pPr>
              <a:defRPr sz="1875" b="0">
                <a:solidFill>
                  <a:srgbClr val="52636E"/>
                </a:solidFill>
                <a:latin typeface="Arial"/>
                <a:ea typeface="Arial"/>
                <a:cs typeface="Arial"/>
              </a:defRPr>
            </a:lvl8pPr>
            <a:lvl9pPr>
              <a:defRPr sz="1875" b="0">
                <a:solidFill>
                  <a:srgbClr val="52636E"/>
                </a:solidFill>
                <a:latin typeface="Arial"/>
                <a:ea typeface="Arial"/>
                <a:cs typeface="Arial"/>
              </a:defRPr>
            </a:lvl9pPr>
          </a:lstStyle>
          <a:p xmlns:a="http://schemas.openxmlformats.org/drawingml/2006/main">
            <a:pPr>
              <a:defRPr sz="1875" b="0">
                <a:solidFill>
                  <a:srgbClr val="52636E"/>
                </a:solidFill>
                <a:latin typeface="Arial"/>
                <a:ea typeface="Arial"/>
                <a:cs typeface="Arial"/>
              </a:defRPr>
            </a:pPr>
            <a:r>
              <a:rPr sz="1875" b="0">
                <a:solidFill>
                  <a:srgbClr val="52636E"/>
                </a:solidFill>
                <a:latin typeface="Arial"/>
                <a:ea typeface="Arial"/>
                <a:cs typeface="Arial"/>
              </a:rPr>
              <a:t>Spare-knight reweighting also failed to beat its control: 326 vs 334 wins.</a:t>
            </a:r>
          </a:p>
          <a:p xmlns:a="http://schemas.openxmlformats.org/drawingml/2006/main">
            <a:pPr>
              <a:defRPr sz="1875" b="0">
                <a:solidFill>
                  <a:srgbClr val="52636E"/>
                </a:solidFill>
                <a:latin typeface="Arial"/>
                <a:ea typeface="Arial"/>
                <a:cs typeface="Arial"/>
              </a:defRPr>
            </a:pPr>
            <a:r>
              <a:rPr sz="1875" b="0">
                <a:solidFill>
                  <a:srgbClr val="52636E"/>
                </a:solidFill>
                <a:latin typeface="Arial"/>
                <a:ea typeface="Arial"/>
                <a:cs typeface="Arial"/>
              </a:rPr>
              <a:t>We kept these changes out of the release.</a:t>
            </a:r>
          </a:p>
        </p:txBody>
      </p:sp>
    </p:spTree>
    <p:extLst>
      <p:ext uri="{BB962C8B-B14F-4D97-AF65-F5344CB8AC3E}">
        <p14:creationId xmlns:p14="http://schemas.microsoft.com/office/powerpoint/2010/main" val="1181636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DD2ABE7-290A-4C07-8009-352AA9427B83}"/>
              </a:ext>
            </a:extLst>
          </p:cNvPr>
          <p:cNvSpPr>
            <a:spLocks xmlns:a="http://schemas.openxmlformats.org/drawingml/2006/main" noGrp="1"/>
          </p:cNvSpPr>
          <p:nvPr/>
        </p:nvSpPr>
        <p:spPr>
          <a:xfrm xmlns:a="http://schemas.openxmlformats.org/drawingml/2006/main">
            <a:off x="685800" y="5048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B36"/>
                </a:solidFill>
                <a:latin typeface="Arial"/>
                <a:ea typeface="Arial"/>
                <a:cs typeface="Arial"/>
              </a:defRPr>
            </a:defPPr>
            <a:lvl1pPr>
              <a:defRPr sz="3450" b="1">
                <a:solidFill>
                  <a:srgbClr val="172B36"/>
                </a:solidFill>
                <a:latin typeface="Arial"/>
                <a:ea typeface="Arial"/>
                <a:cs typeface="Arial"/>
              </a:defRPr>
            </a:lvl1pPr>
            <a:lvl2pPr>
              <a:defRPr sz="3450" b="1">
                <a:solidFill>
                  <a:srgbClr val="172B36"/>
                </a:solidFill>
                <a:latin typeface="Arial"/>
                <a:ea typeface="Arial"/>
                <a:cs typeface="Arial"/>
              </a:defRPr>
            </a:lvl2pPr>
            <a:lvl3pPr>
              <a:defRPr sz="3450" b="1">
                <a:solidFill>
                  <a:srgbClr val="172B36"/>
                </a:solidFill>
                <a:latin typeface="Arial"/>
                <a:ea typeface="Arial"/>
                <a:cs typeface="Arial"/>
              </a:defRPr>
            </a:lvl3pPr>
            <a:lvl4pPr>
              <a:defRPr sz="3450" b="1">
                <a:solidFill>
                  <a:srgbClr val="172B36"/>
                </a:solidFill>
                <a:latin typeface="Arial"/>
                <a:ea typeface="Arial"/>
                <a:cs typeface="Arial"/>
              </a:defRPr>
            </a:lvl4pPr>
            <a:lvl5pPr>
              <a:defRPr sz="3450" b="1">
                <a:solidFill>
                  <a:srgbClr val="172B36"/>
                </a:solidFill>
                <a:latin typeface="Arial"/>
                <a:ea typeface="Arial"/>
                <a:cs typeface="Arial"/>
              </a:defRPr>
            </a:lvl5pPr>
            <a:lvl6pPr>
              <a:defRPr sz="3450" b="1">
                <a:solidFill>
                  <a:srgbClr val="172B36"/>
                </a:solidFill>
                <a:latin typeface="Arial"/>
                <a:ea typeface="Arial"/>
                <a:cs typeface="Arial"/>
              </a:defRPr>
            </a:lvl6pPr>
            <a:lvl7pPr>
              <a:defRPr sz="3450" b="1">
                <a:solidFill>
                  <a:srgbClr val="172B36"/>
                </a:solidFill>
                <a:latin typeface="Arial"/>
                <a:ea typeface="Arial"/>
                <a:cs typeface="Arial"/>
              </a:defRPr>
            </a:lvl7pPr>
            <a:lvl8pPr>
              <a:defRPr sz="3450" b="1">
                <a:solidFill>
                  <a:srgbClr val="172B36"/>
                </a:solidFill>
                <a:latin typeface="Arial"/>
                <a:ea typeface="Arial"/>
                <a:cs typeface="Arial"/>
              </a:defRPr>
            </a:lvl8pPr>
            <a:lvl9pPr>
              <a:defRPr sz="3450" b="1">
                <a:solidFill>
                  <a:srgbClr val="172B36"/>
                </a:solidFill>
                <a:latin typeface="Arial"/>
                <a:ea typeface="Arial"/>
                <a:cs typeface="Arial"/>
              </a:defRPr>
            </a:lvl9pPr>
          </a:lstStyle>
          <a:p xmlns:a="http://schemas.openxmlformats.org/drawingml/2006/main">
            <a:pPr>
              <a:defRPr sz="3450" b="1">
                <a:solidFill>
                  <a:srgbClr val="172B36"/>
                </a:solidFill>
                <a:latin typeface="Arial"/>
                <a:ea typeface="Arial"/>
                <a:cs typeface="Arial"/>
              </a:defRPr>
            </a:pPr>
            <a:r>
              <a:rPr sz="3450" b="1">
                <a:solidFill>
                  <a:srgbClr val="172B36"/>
                </a:solidFill>
                <a:latin typeface="Arial"/>
                <a:ea typeface="Arial"/>
                <a:cs typeface="Arial"/>
              </a:rPr>
              <a:t>Reliability and remaining questions</a:t>
            </a:r>
          </a:p>
        </p:txBody>
      </p:sp>
      <p:sp>
        <p:nvSpPr>
          <p:cNvPr id="2" name="page-number">
            <a:extLst xmlns:a="http://schemas.openxmlformats.org/drawingml/2006/main">
              <a:ext uri="{FF2B5EF4-FFF2-40B4-BE49-F238E27FC236}">
                <a16:creationId xmlns:a16="http://schemas.microsoft.com/office/drawing/2014/main" id="{1BEFC077-4225-44FC-8AC1-25A3C6CD26D7}"/>
              </a:ext>
            </a:extLst>
          </p:cNvPr>
          <p:cNvSpPr>
            <a:spLocks xmlns:a="http://schemas.openxmlformats.org/drawingml/2006/main" noGrp="1"/>
          </p:cNvSpPr>
          <p:nvPr/>
        </p:nvSpPr>
        <p:spPr>
          <a:xfrm xmlns:a="http://schemas.openxmlformats.org/drawingml/2006/main">
            <a:off x="11049000" y="63246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36E"/>
                </a:solidFill>
                <a:latin typeface="Arial"/>
                <a:ea typeface="Arial"/>
                <a:cs typeface="Arial"/>
              </a:defRPr>
            </a:defPPr>
            <a:lvl1pPr>
              <a:defRPr sz="1725" b="0">
                <a:solidFill>
                  <a:srgbClr val="52636E"/>
                </a:solidFill>
                <a:latin typeface="Arial"/>
                <a:ea typeface="Arial"/>
                <a:cs typeface="Arial"/>
              </a:defRPr>
            </a:lvl1pPr>
            <a:lvl2pPr>
              <a:defRPr sz="1725" b="0">
                <a:solidFill>
                  <a:srgbClr val="52636E"/>
                </a:solidFill>
                <a:latin typeface="Arial"/>
                <a:ea typeface="Arial"/>
                <a:cs typeface="Arial"/>
              </a:defRPr>
            </a:lvl2pPr>
            <a:lvl3pPr>
              <a:defRPr sz="1725" b="0">
                <a:solidFill>
                  <a:srgbClr val="52636E"/>
                </a:solidFill>
                <a:latin typeface="Arial"/>
                <a:ea typeface="Arial"/>
                <a:cs typeface="Arial"/>
              </a:defRPr>
            </a:lvl3pPr>
            <a:lvl4pPr>
              <a:defRPr sz="1725" b="0">
                <a:solidFill>
                  <a:srgbClr val="52636E"/>
                </a:solidFill>
                <a:latin typeface="Arial"/>
                <a:ea typeface="Arial"/>
                <a:cs typeface="Arial"/>
              </a:defRPr>
            </a:lvl4pPr>
            <a:lvl5pPr>
              <a:defRPr sz="1725" b="0">
                <a:solidFill>
                  <a:srgbClr val="52636E"/>
                </a:solidFill>
                <a:latin typeface="Arial"/>
                <a:ea typeface="Arial"/>
                <a:cs typeface="Arial"/>
              </a:defRPr>
            </a:lvl5pPr>
            <a:lvl6pPr>
              <a:defRPr sz="1725" b="0">
                <a:solidFill>
                  <a:srgbClr val="52636E"/>
                </a:solidFill>
                <a:latin typeface="Arial"/>
                <a:ea typeface="Arial"/>
                <a:cs typeface="Arial"/>
              </a:defRPr>
            </a:lvl6pPr>
            <a:lvl7pPr>
              <a:defRPr sz="1725" b="0">
                <a:solidFill>
                  <a:srgbClr val="52636E"/>
                </a:solidFill>
                <a:latin typeface="Arial"/>
                <a:ea typeface="Arial"/>
                <a:cs typeface="Arial"/>
              </a:defRPr>
            </a:lvl7pPr>
            <a:lvl8pPr>
              <a:defRPr sz="1725" b="0">
                <a:solidFill>
                  <a:srgbClr val="52636E"/>
                </a:solidFill>
                <a:latin typeface="Arial"/>
                <a:ea typeface="Arial"/>
                <a:cs typeface="Arial"/>
              </a:defRPr>
            </a:lvl8pPr>
            <a:lvl9pPr>
              <a:defRPr sz="1725" b="0">
                <a:solidFill>
                  <a:srgbClr val="52636E"/>
                </a:solidFill>
                <a:latin typeface="Arial"/>
                <a:ea typeface="Arial"/>
                <a:cs typeface="Arial"/>
              </a:defRPr>
            </a:lvl9pPr>
          </a:lstStyle>
          <a:p xmlns:a="http://schemas.openxmlformats.org/drawingml/2006/main">
            <a:pPr>
              <a:defRPr sz="1725" b="0">
                <a:solidFill>
                  <a:srgbClr val="52636E"/>
                </a:solidFill>
                <a:latin typeface="Arial"/>
                <a:ea typeface="Arial"/>
                <a:cs typeface="Arial"/>
              </a:defRPr>
            </a:pPr>
            <a:r>
              <a:rPr sz="1725" b="0">
                <a:solidFill>
                  <a:srgbClr val="52636E"/>
                </a:solidFill>
                <a:latin typeface="Arial"/>
                <a:ea typeface="Arial"/>
                <a:cs typeface="Arial"/>
              </a:rPr>
              <a:t>6</a:t>
            </a:r>
          </a:p>
        </p:txBody>
      </p:sp>
      <p:sp>
        <p:nvSpPr>
          <p:cNvPr id="3" name="reliability-title">
            <a:extLst xmlns:a="http://schemas.openxmlformats.org/drawingml/2006/main">
              <a:ext uri="{FF2B5EF4-FFF2-40B4-BE49-F238E27FC236}">
                <a16:creationId xmlns:a16="http://schemas.microsoft.com/office/drawing/2014/main" id="{EFFA3A03-6C28-4002-BD2F-4DD25E90A270}"/>
              </a:ext>
            </a:extLst>
          </p:cNvPr>
          <p:cNvSpPr>
            <a:spLocks xmlns:a="http://schemas.openxmlformats.org/drawingml/2006/main" noGrp="1"/>
          </p:cNvSpPr>
          <p:nvPr/>
        </p:nvSpPr>
        <p:spPr>
          <a:xfrm xmlns:a="http://schemas.openxmlformats.org/drawingml/2006/main">
            <a:off x="685800" y="16954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C7C86"/>
                </a:solidFill>
                <a:latin typeface="Arial"/>
                <a:ea typeface="Arial"/>
                <a:cs typeface="Arial"/>
              </a:defRPr>
            </a:defPPr>
            <a:lvl1pPr>
              <a:defRPr sz="2400" b="1">
                <a:solidFill>
                  <a:srgbClr val="0C7C86"/>
                </a:solidFill>
                <a:latin typeface="Arial"/>
                <a:ea typeface="Arial"/>
                <a:cs typeface="Arial"/>
              </a:defRPr>
            </a:lvl1pPr>
            <a:lvl2pPr>
              <a:defRPr sz="2400" b="1">
                <a:solidFill>
                  <a:srgbClr val="0C7C86"/>
                </a:solidFill>
                <a:latin typeface="Arial"/>
                <a:ea typeface="Arial"/>
                <a:cs typeface="Arial"/>
              </a:defRPr>
            </a:lvl2pPr>
            <a:lvl3pPr>
              <a:defRPr sz="2400" b="1">
                <a:solidFill>
                  <a:srgbClr val="0C7C86"/>
                </a:solidFill>
                <a:latin typeface="Arial"/>
                <a:ea typeface="Arial"/>
                <a:cs typeface="Arial"/>
              </a:defRPr>
            </a:lvl3pPr>
            <a:lvl4pPr>
              <a:defRPr sz="2400" b="1">
                <a:solidFill>
                  <a:srgbClr val="0C7C86"/>
                </a:solidFill>
                <a:latin typeface="Arial"/>
                <a:ea typeface="Arial"/>
                <a:cs typeface="Arial"/>
              </a:defRPr>
            </a:lvl4pPr>
            <a:lvl5pPr>
              <a:defRPr sz="2400" b="1">
                <a:solidFill>
                  <a:srgbClr val="0C7C86"/>
                </a:solidFill>
                <a:latin typeface="Arial"/>
                <a:ea typeface="Arial"/>
                <a:cs typeface="Arial"/>
              </a:defRPr>
            </a:lvl5pPr>
            <a:lvl6pPr>
              <a:defRPr sz="2400" b="1">
                <a:solidFill>
                  <a:srgbClr val="0C7C86"/>
                </a:solidFill>
                <a:latin typeface="Arial"/>
                <a:ea typeface="Arial"/>
                <a:cs typeface="Arial"/>
              </a:defRPr>
            </a:lvl6pPr>
            <a:lvl7pPr>
              <a:defRPr sz="2400" b="1">
                <a:solidFill>
                  <a:srgbClr val="0C7C86"/>
                </a:solidFill>
                <a:latin typeface="Arial"/>
                <a:ea typeface="Arial"/>
                <a:cs typeface="Arial"/>
              </a:defRPr>
            </a:lvl7pPr>
            <a:lvl8pPr>
              <a:defRPr sz="2400" b="1">
                <a:solidFill>
                  <a:srgbClr val="0C7C86"/>
                </a:solidFill>
                <a:latin typeface="Arial"/>
                <a:ea typeface="Arial"/>
                <a:cs typeface="Arial"/>
              </a:defRPr>
            </a:lvl8pPr>
            <a:lvl9pPr>
              <a:defRPr sz="2400" b="1">
                <a:solidFill>
                  <a:srgbClr val="0C7C86"/>
                </a:solidFill>
                <a:latin typeface="Arial"/>
                <a:ea typeface="Arial"/>
                <a:cs typeface="Arial"/>
              </a:defRPr>
            </a:lvl9pPr>
          </a:lstStyle>
          <a:p xmlns:a="http://schemas.openxmlformats.org/drawingml/2006/main">
            <a:pPr>
              <a:defRPr sz="2400" b="1">
                <a:solidFill>
                  <a:srgbClr val="0C7C86"/>
                </a:solidFill>
                <a:latin typeface="Arial"/>
                <a:ea typeface="Arial"/>
                <a:cs typeface="Arial"/>
              </a:defRPr>
            </a:pPr>
            <a:r>
              <a:rPr sz="2400" b="1">
                <a:solidFill>
                  <a:srgbClr val="0C7C86"/>
                </a:solidFill>
                <a:latin typeface="Arial"/>
                <a:ea typeface="Arial"/>
                <a:cs typeface="Arial"/>
              </a:rPr>
              <a:t>What we verified</a:t>
            </a:r>
          </a:p>
        </p:txBody>
      </p:sp>
      <p:sp>
        <p:nvSpPr>
          <p:cNvPr id="4" name="reliability">
            <a:extLst xmlns:a="http://schemas.openxmlformats.org/drawingml/2006/main">
              <a:ext uri="{FF2B5EF4-FFF2-40B4-BE49-F238E27FC236}">
                <a16:creationId xmlns:a16="http://schemas.microsoft.com/office/drawing/2014/main" id="{013BD75A-8481-4565-83C3-C3063F435871}"/>
              </a:ext>
            </a:extLst>
          </p:cNvPr>
          <p:cNvSpPr>
            <a:spLocks xmlns:a="http://schemas.openxmlformats.org/drawingml/2006/main" noGrp="1"/>
          </p:cNvSpPr>
          <p:nvPr/>
        </p:nvSpPr>
        <p:spPr>
          <a:xfrm xmlns:a="http://schemas.openxmlformats.org/drawingml/2006/main">
            <a:off x="685800" y="2390775"/>
            <a:ext cx="49530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6"/>
                </a:solidFill>
                <a:latin typeface="Arial"/>
                <a:ea typeface="Arial"/>
                <a:cs typeface="Arial"/>
              </a:defRPr>
            </a:defPPr>
            <a:lvl1pPr>
              <a:defRPr sz="2100" b="0">
                <a:solidFill>
                  <a:srgbClr val="172B36"/>
                </a:solidFill>
                <a:latin typeface="Arial"/>
                <a:ea typeface="Arial"/>
                <a:cs typeface="Arial"/>
              </a:defRPr>
            </a:lvl1pPr>
            <a:lvl2pPr>
              <a:defRPr sz="2100" b="0">
                <a:solidFill>
                  <a:srgbClr val="172B36"/>
                </a:solidFill>
                <a:latin typeface="Arial"/>
                <a:ea typeface="Arial"/>
                <a:cs typeface="Arial"/>
              </a:defRPr>
            </a:lvl2pPr>
            <a:lvl3pPr>
              <a:defRPr sz="2100" b="0">
                <a:solidFill>
                  <a:srgbClr val="172B36"/>
                </a:solidFill>
                <a:latin typeface="Arial"/>
                <a:ea typeface="Arial"/>
                <a:cs typeface="Arial"/>
              </a:defRPr>
            </a:lvl3pPr>
            <a:lvl4pPr>
              <a:defRPr sz="2100" b="0">
                <a:solidFill>
                  <a:srgbClr val="172B36"/>
                </a:solidFill>
                <a:latin typeface="Arial"/>
                <a:ea typeface="Arial"/>
                <a:cs typeface="Arial"/>
              </a:defRPr>
            </a:lvl4pPr>
            <a:lvl5pPr>
              <a:defRPr sz="2100" b="0">
                <a:solidFill>
                  <a:srgbClr val="172B36"/>
                </a:solidFill>
                <a:latin typeface="Arial"/>
                <a:ea typeface="Arial"/>
                <a:cs typeface="Arial"/>
              </a:defRPr>
            </a:lvl5pPr>
            <a:lvl6pPr>
              <a:defRPr sz="2100" b="0">
                <a:solidFill>
                  <a:srgbClr val="172B36"/>
                </a:solidFill>
                <a:latin typeface="Arial"/>
                <a:ea typeface="Arial"/>
                <a:cs typeface="Arial"/>
              </a:defRPr>
            </a:lvl6pPr>
            <a:lvl7pPr>
              <a:defRPr sz="2100" b="0">
                <a:solidFill>
                  <a:srgbClr val="172B36"/>
                </a:solidFill>
                <a:latin typeface="Arial"/>
                <a:ea typeface="Arial"/>
                <a:cs typeface="Arial"/>
              </a:defRPr>
            </a:lvl7pPr>
            <a:lvl8pPr>
              <a:defRPr sz="2100" b="0">
                <a:solidFill>
                  <a:srgbClr val="172B36"/>
                </a:solidFill>
                <a:latin typeface="Arial"/>
                <a:ea typeface="Arial"/>
                <a:cs typeface="Arial"/>
              </a:defRPr>
            </a:lvl8pPr>
            <a:lvl9pPr>
              <a:defRPr sz="2100" b="0">
                <a:solidFill>
                  <a:srgbClr val="172B36"/>
                </a:solidFill>
                <a:latin typeface="Arial"/>
                <a:ea typeface="Arial"/>
                <a:cs typeface="Arial"/>
              </a:defRPr>
            </a:lvl9pPr>
          </a:lstStyle>
          <a:p xmlns:a="http://schemas.openxmlformats.org/drawingml/2006/main">
            <a:pPr>
              <a:defRPr sz="2100" b="0">
                <a:solidFill>
                  <a:srgbClr val="172B36"/>
                </a:solidFill>
                <a:latin typeface="Arial"/>
                <a:ea typeface="Arial"/>
                <a:cs typeface="Arial"/>
              </a:defRPr>
            </a:pPr>
            <a:r>
              <a:rPr sz="2100" b="0">
                <a:solidFill>
                  <a:srgbClr val="172B36"/>
                </a:solidFill>
                <a:latin typeface="Arial"/>
                <a:ea typeface="Arial"/>
                <a:cs typeface="Arial"/>
              </a:rPr>
              <a:t>Five behavior tests pass.</a:t>
            </a:r>
          </a:p>
          <a:p xmlns:a="http://schemas.openxmlformats.org/drawingml/2006/main">
            <a:r>
              <a:t/>
            </a:r>
          </a:p>
          <a:p xmlns:a="http://schemas.openxmlformats.org/drawingml/2006/main">
            <a:pPr>
              <a:defRPr sz="2100" b="0">
                <a:solidFill>
                  <a:srgbClr val="172B36"/>
                </a:solidFill>
                <a:latin typeface="Arial"/>
                <a:ea typeface="Arial"/>
                <a:cs typeface="Arial"/>
              </a:defRPr>
            </a:pPr>
            <a:r>
              <a:rPr sz="2100" b="0">
                <a:solidFill>
                  <a:srgbClr val="172B36"/>
                </a:solidFill>
                <a:latin typeface="Arial"/>
                <a:ea typeface="Arial"/>
                <a:cs typeface="Arial"/>
              </a:rPr>
              <a:t>The 1,000-game release run has zero faults and zero clock overruns.</a:t>
            </a:r>
          </a:p>
          <a:p xmlns:a="http://schemas.openxmlformats.org/drawingml/2006/main">
            <a:r>
              <a:t/>
            </a:r>
          </a:p>
          <a:p xmlns:a="http://schemas.openxmlformats.org/drawingml/2006/main">
            <a:pPr>
              <a:defRPr sz="2100" b="0">
                <a:solidFill>
                  <a:srgbClr val="172B36"/>
                </a:solidFill>
                <a:latin typeface="Arial"/>
                <a:ea typeface="Arial"/>
                <a:cs typeface="Arial"/>
              </a:defRPr>
            </a:pPr>
            <a:r>
              <a:rPr sz="2100" b="0">
                <a:solidFill>
                  <a:srgbClr val="172B36"/>
                </a:solidFill>
                <a:latin typeface="Arial"/>
                <a:ea typeface="Arial"/>
                <a:cs typeface="Arial"/>
              </a:rPr>
              <a:t>The ZIP source matches the tested SHA-256 hash.</a:t>
            </a:r>
          </a:p>
        </p:txBody>
      </p:sp>
      <p:sp>
        <p:nvSpPr>
          <p:cNvPr id="5" name="scope-title">
            <a:extLst xmlns:a="http://schemas.openxmlformats.org/drawingml/2006/main">
              <a:ext uri="{FF2B5EF4-FFF2-40B4-BE49-F238E27FC236}">
                <a16:creationId xmlns:a16="http://schemas.microsoft.com/office/drawing/2014/main" id="{0AF5A263-3685-42C1-8F4C-ECFBB02FD42D}"/>
              </a:ext>
            </a:extLst>
          </p:cNvPr>
          <p:cNvSpPr>
            <a:spLocks xmlns:a="http://schemas.openxmlformats.org/drawingml/2006/main" noGrp="1"/>
          </p:cNvSpPr>
          <p:nvPr/>
        </p:nvSpPr>
        <p:spPr>
          <a:xfrm xmlns:a="http://schemas.openxmlformats.org/drawingml/2006/main">
            <a:off x="6572250" y="169545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C7C86"/>
                </a:solidFill>
                <a:latin typeface="Arial"/>
                <a:ea typeface="Arial"/>
                <a:cs typeface="Arial"/>
              </a:defRPr>
            </a:defPPr>
            <a:lvl1pPr>
              <a:defRPr sz="2400" b="1">
                <a:solidFill>
                  <a:srgbClr val="0C7C86"/>
                </a:solidFill>
                <a:latin typeface="Arial"/>
                <a:ea typeface="Arial"/>
                <a:cs typeface="Arial"/>
              </a:defRPr>
            </a:lvl1pPr>
            <a:lvl2pPr>
              <a:defRPr sz="2400" b="1">
                <a:solidFill>
                  <a:srgbClr val="0C7C86"/>
                </a:solidFill>
                <a:latin typeface="Arial"/>
                <a:ea typeface="Arial"/>
                <a:cs typeface="Arial"/>
              </a:defRPr>
            </a:lvl2pPr>
            <a:lvl3pPr>
              <a:defRPr sz="2400" b="1">
                <a:solidFill>
                  <a:srgbClr val="0C7C86"/>
                </a:solidFill>
                <a:latin typeface="Arial"/>
                <a:ea typeface="Arial"/>
                <a:cs typeface="Arial"/>
              </a:defRPr>
            </a:lvl3pPr>
            <a:lvl4pPr>
              <a:defRPr sz="2400" b="1">
                <a:solidFill>
                  <a:srgbClr val="0C7C86"/>
                </a:solidFill>
                <a:latin typeface="Arial"/>
                <a:ea typeface="Arial"/>
                <a:cs typeface="Arial"/>
              </a:defRPr>
            </a:lvl4pPr>
            <a:lvl5pPr>
              <a:defRPr sz="2400" b="1">
                <a:solidFill>
                  <a:srgbClr val="0C7C86"/>
                </a:solidFill>
                <a:latin typeface="Arial"/>
                <a:ea typeface="Arial"/>
                <a:cs typeface="Arial"/>
              </a:defRPr>
            </a:lvl5pPr>
            <a:lvl6pPr>
              <a:defRPr sz="2400" b="1">
                <a:solidFill>
                  <a:srgbClr val="0C7C86"/>
                </a:solidFill>
                <a:latin typeface="Arial"/>
                <a:ea typeface="Arial"/>
                <a:cs typeface="Arial"/>
              </a:defRPr>
            </a:lvl6pPr>
            <a:lvl7pPr>
              <a:defRPr sz="2400" b="1">
                <a:solidFill>
                  <a:srgbClr val="0C7C86"/>
                </a:solidFill>
                <a:latin typeface="Arial"/>
                <a:ea typeface="Arial"/>
                <a:cs typeface="Arial"/>
              </a:defRPr>
            </a:lvl7pPr>
            <a:lvl8pPr>
              <a:defRPr sz="2400" b="1">
                <a:solidFill>
                  <a:srgbClr val="0C7C86"/>
                </a:solidFill>
                <a:latin typeface="Arial"/>
                <a:ea typeface="Arial"/>
                <a:cs typeface="Arial"/>
              </a:defRPr>
            </a:lvl8pPr>
            <a:lvl9pPr>
              <a:defRPr sz="2400" b="1">
                <a:solidFill>
                  <a:srgbClr val="0C7C86"/>
                </a:solidFill>
                <a:latin typeface="Arial"/>
                <a:ea typeface="Arial"/>
                <a:cs typeface="Arial"/>
              </a:defRPr>
            </a:lvl9pPr>
          </a:lstStyle>
          <a:p xmlns:a="http://schemas.openxmlformats.org/drawingml/2006/main">
            <a:pPr>
              <a:defRPr sz="2400" b="1">
                <a:solidFill>
                  <a:srgbClr val="0C7C86"/>
                </a:solidFill>
                <a:latin typeface="Arial"/>
                <a:ea typeface="Arial"/>
                <a:cs typeface="Arial"/>
              </a:defRPr>
            </a:pPr>
            <a:r>
              <a:rPr sz="2400" b="1">
                <a:solidFill>
                  <a:srgbClr val="0C7C86"/>
                </a:solidFill>
                <a:latin typeface="Arial"/>
                <a:ea typeface="Arial"/>
                <a:cs typeface="Arial"/>
              </a:rPr>
              <a:t>What remains open</a:t>
            </a:r>
          </a:p>
        </p:txBody>
      </p:sp>
      <p:sp>
        <p:nvSpPr>
          <p:cNvPr id="6" name="scope">
            <a:extLst xmlns:a="http://schemas.openxmlformats.org/drawingml/2006/main">
              <a:ext uri="{FF2B5EF4-FFF2-40B4-BE49-F238E27FC236}">
                <a16:creationId xmlns:a16="http://schemas.microsoft.com/office/drawing/2014/main" id="{D683B606-8CC3-4E3C-A900-DD7F2B9D5A59}"/>
              </a:ext>
            </a:extLst>
          </p:cNvPr>
          <p:cNvSpPr>
            <a:spLocks xmlns:a="http://schemas.openxmlformats.org/drawingml/2006/main" noGrp="1"/>
          </p:cNvSpPr>
          <p:nvPr/>
        </p:nvSpPr>
        <p:spPr>
          <a:xfrm xmlns:a="http://schemas.openxmlformats.org/drawingml/2006/main">
            <a:off x="6572250" y="2390775"/>
            <a:ext cx="49339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6"/>
                </a:solidFill>
                <a:latin typeface="Arial"/>
                <a:ea typeface="Arial"/>
                <a:cs typeface="Arial"/>
              </a:defRPr>
            </a:defPPr>
            <a:lvl1pPr>
              <a:defRPr sz="2100" b="0">
                <a:solidFill>
                  <a:srgbClr val="172B36"/>
                </a:solidFill>
                <a:latin typeface="Arial"/>
                <a:ea typeface="Arial"/>
                <a:cs typeface="Arial"/>
              </a:defRPr>
            </a:lvl1pPr>
            <a:lvl2pPr>
              <a:defRPr sz="2100" b="0">
                <a:solidFill>
                  <a:srgbClr val="172B36"/>
                </a:solidFill>
                <a:latin typeface="Arial"/>
                <a:ea typeface="Arial"/>
                <a:cs typeface="Arial"/>
              </a:defRPr>
            </a:lvl2pPr>
            <a:lvl3pPr>
              <a:defRPr sz="2100" b="0">
                <a:solidFill>
                  <a:srgbClr val="172B36"/>
                </a:solidFill>
                <a:latin typeface="Arial"/>
                <a:ea typeface="Arial"/>
                <a:cs typeface="Arial"/>
              </a:defRPr>
            </a:lvl3pPr>
            <a:lvl4pPr>
              <a:defRPr sz="2100" b="0">
                <a:solidFill>
                  <a:srgbClr val="172B36"/>
                </a:solidFill>
                <a:latin typeface="Arial"/>
                <a:ea typeface="Arial"/>
                <a:cs typeface="Arial"/>
              </a:defRPr>
            </a:lvl4pPr>
            <a:lvl5pPr>
              <a:defRPr sz="2100" b="0">
                <a:solidFill>
                  <a:srgbClr val="172B36"/>
                </a:solidFill>
                <a:latin typeface="Arial"/>
                <a:ea typeface="Arial"/>
                <a:cs typeface="Arial"/>
              </a:defRPr>
            </a:lvl5pPr>
            <a:lvl6pPr>
              <a:defRPr sz="2100" b="0">
                <a:solidFill>
                  <a:srgbClr val="172B36"/>
                </a:solidFill>
                <a:latin typeface="Arial"/>
                <a:ea typeface="Arial"/>
                <a:cs typeface="Arial"/>
              </a:defRPr>
            </a:lvl6pPr>
            <a:lvl7pPr>
              <a:defRPr sz="2100" b="0">
                <a:solidFill>
                  <a:srgbClr val="172B36"/>
                </a:solidFill>
                <a:latin typeface="Arial"/>
                <a:ea typeface="Arial"/>
                <a:cs typeface="Arial"/>
              </a:defRPr>
            </a:lvl7pPr>
            <a:lvl8pPr>
              <a:defRPr sz="2100" b="0">
                <a:solidFill>
                  <a:srgbClr val="172B36"/>
                </a:solidFill>
                <a:latin typeface="Arial"/>
                <a:ea typeface="Arial"/>
                <a:cs typeface="Arial"/>
              </a:defRPr>
            </a:lvl8pPr>
            <a:lvl9pPr>
              <a:defRPr sz="2100" b="0">
                <a:solidFill>
                  <a:srgbClr val="172B36"/>
                </a:solidFill>
                <a:latin typeface="Arial"/>
                <a:ea typeface="Arial"/>
                <a:cs typeface="Arial"/>
              </a:defRPr>
            </a:lvl9pPr>
          </a:lstStyle>
          <a:p xmlns:a="http://schemas.openxmlformats.org/drawingml/2006/main">
            <a:pPr>
              <a:defRPr sz="2100" b="0">
                <a:solidFill>
                  <a:srgbClr val="172B36"/>
                </a:solidFill>
                <a:latin typeface="Arial"/>
                <a:ea typeface="Arial"/>
                <a:cs typeface="Arial"/>
              </a:defRPr>
            </a:pPr>
            <a:r>
              <a:rPr sz="2100" b="0">
                <a:solidFill>
                  <a:srgbClr val="172B36"/>
                </a:solidFill>
                <a:latin typeface="Arial"/>
                <a:ea typeface="Arial"/>
                <a:cs typeface="Arial"/>
              </a:rPr>
              <a:t>Performance against O and group opponents.</a:t>
            </a:r>
          </a:p>
          <a:p xmlns:a="http://schemas.openxmlformats.org/drawingml/2006/main">
            <a:r>
              <a:t/>
            </a:r>
          </a:p>
          <a:p xmlns:a="http://schemas.openxmlformats.org/drawingml/2006/main">
            <a:pPr>
              <a:defRPr sz="2100" b="0">
                <a:solidFill>
                  <a:srgbClr val="172B36"/>
                </a:solidFill>
                <a:latin typeface="Arial"/>
                <a:ea typeface="Arial"/>
                <a:cs typeface="Arial"/>
              </a:defRPr>
            </a:pPr>
            <a:r>
              <a:rPr sz="2100" b="0">
                <a:solidFill>
                  <a:srgbClr val="172B36"/>
                </a:solidFill>
                <a:latin typeface="Arial"/>
                <a:ea typeface="Arial"/>
                <a:cs typeface="Arial"/>
              </a:rPr>
              <a:t>Transfer beyond the F-focused training distribution.</a:t>
            </a:r>
          </a:p>
          <a:p xmlns:a="http://schemas.openxmlformats.org/drawingml/2006/main">
            <a:r>
              <a:t/>
            </a:r>
          </a:p>
          <a:p xmlns:a="http://schemas.openxmlformats.org/drawingml/2006/main">
            <a:pPr>
              <a:defRPr sz="2100" b="0">
                <a:solidFill>
                  <a:srgbClr val="172B36"/>
                </a:solidFill>
                <a:latin typeface="Arial"/>
                <a:ea typeface="Arial"/>
                <a:cs typeface="Arial"/>
              </a:defRPr>
            </a:pPr>
            <a:r>
              <a:rPr sz="2100" b="0">
                <a:solidFill>
                  <a:srgbClr val="172B36"/>
                </a:solidFill>
                <a:latin typeface="Arial"/>
                <a:ea typeface="Arial"/>
                <a:cs typeface="Arial"/>
              </a:rPr>
              <a:t>Timing on the organizer machine and value of longer-horizon planning.</a:t>
            </a:r>
          </a:p>
        </p:txBody>
      </p:sp>
      <p:sp>
        <p:nvSpPr>
          <p:cNvPr id="7" name="closing">
            <a:extLst xmlns:a="http://schemas.openxmlformats.org/drawingml/2006/main">
              <a:ext uri="{FF2B5EF4-FFF2-40B4-BE49-F238E27FC236}">
                <a16:creationId xmlns:a16="http://schemas.microsoft.com/office/drawing/2014/main" id="{1365ED1C-D14B-4DC7-9C16-B23BC48826D4}"/>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36E"/>
                </a:solidFill>
                <a:latin typeface="Arial"/>
                <a:ea typeface="Arial"/>
                <a:cs typeface="Arial"/>
              </a:defRPr>
            </a:defPPr>
            <a:lvl1pPr>
              <a:defRPr sz="2025" b="0">
                <a:solidFill>
                  <a:srgbClr val="52636E"/>
                </a:solidFill>
                <a:latin typeface="Arial"/>
                <a:ea typeface="Arial"/>
                <a:cs typeface="Arial"/>
              </a:defRPr>
            </a:lvl1pPr>
            <a:lvl2pPr>
              <a:defRPr sz="2025" b="0">
                <a:solidFill>
                  <a:srgbClr val="52636E"/>
                </a:solidFill>
                <a:latin typeface="Arial"/>
                <a:ea typeface="Arial"/>
                <a:cs typeface="Arial"/>
              </a:defRPr>
            </a:lvl2pPr>
            <a:lvl3pPr>
              <a:defRPr sz="2025" b="0">
                <a:solidFill>
                  <a:srgbClr val="52636E"/>
                </a:solidFill>
                <a:latin typeface="Arial"/>
                <a:ea typeface="Arial"/>
                <a:cs typeface="Arial"/>
              </a:defRPr>
            </a:lvl3pPr>
            <a:lvl4pPr>
              <a:defRPr sz="2025" b="0">
                <a:solidFill>
                  <a:srgbClr val="52636E"/>
                </a:solidFill>
                <a:latin typeface="Arial"/>
                <a:ea typeface="Arial"/>
                <a:cs typeface="Arial"/>
              </a:defRPr>
            </a:lvl4pPr>
            <a:lvl5pPr>
              <a:defRPr sz="2025" b="0">
                <a:solidFill>
                  <a:srgbClr val="52636E"/>
                </a:solidFill>
                <a:latin typeface="Arial"/>
                <a:ea typeface="Arial"/>
                <a:cs typeface="Arial"/>
              </a:defRPr>
            </a:lvl5pPr>
            <a:lvl6pPr>
              <a:defRPr sz="2025" b="0">
                <a:solidFill>
                  <a:srgbClr val="52636E"/>
                </a:solidFill>
                <a:latin typeface="Arial"/>
                <a:ea typeface="Arial"/>
                <a:cs typeface="Arial"/>
              </a:defRPr>
            </a:lvl6pPr>
            <a:lvl7pPr>
              <a:defRPr sz="2025" b="0">
                <a:solidFill>
                  <a:srgbClr val="52636E"/>
                </a:solidFill>
                <a:latin typeface="Arial"/>
                <a:ea typeface="Arial"/>
                <a:cs typeface="Arial"/>
              </a:defRPr>
            </a:lvl7pPr>
            <a:lvl8pPr>
              <a:defRPr sz="2025" b="0">
                <a:solidFill>
                  <a:srgbClr val="52636E"/>
                </a:solidFill>
                <a:latin typeface="Arial"/>
                <a:ea typeface="Arial"/>
                <a:cs typeface="Arial"/>
              </a:defRPr>
            </a:lvl8pPr>
            <a:lvl9pPr>
              <a:defRPr sz="2025" b="0">
                <a:solidFill>
                  <a:srgbClr val="52636E"/>
                </a:solidFill>
                <a:latin typeface="Arial"/>
                <a:ea typeface="Arial"/>
                <a:cs typeface="Arial"/>
              </a:defRPr>
            </a:lvl9pPr>
          </a:lstStyle>
          <a:p xmlns:a="http://schemas.openxmlformats.org/drawingml/2006/main">
            <a:pPr>
              <a:defRPr sz="2025" b="0">
                <a:solidFill>
                  <a:srgbClr val="52636E"/>
                </a:solidFill>
                <a:latin typeface="Arial"/>
                <a:ea typeface="Arial"/>
                <a:cs typeface="Arial"/>
              </a:defRPr>
            </a:pPr>
            <a:r>
              <a:rPr sz="2025" b="0">
                <a:solidFill>
                  <a:srgbClr val="52636E"/>
                </a:solidFill>
                <a:latin typeface="Arial"/>
                <a:ea typeface="Arial"/>
                <a:cs typeface="Arial"/>
              </a:rPr>
              <a:t>The repository includes the runtime ZIP, model export, report and raw evidence.</a:t>
            </a:r>
          </a:p>
        </p:txBody>
      </p:sp>
    </p:spTree>
    <p:extLst>
      <p:ext uri="{BB962C8B-B14F-4D97-AF65-F5344CB8AC3E}">
        <p14:creationId xmlns:p14="http://schemas.microsoft.com/office/powerpoint/2010/main" val="14805975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2026-10-17T11:50:32.6490000Z</dcterms:created>
  <dcterms:modified xsi:type="dcterms:W3CDTF">2026-10-17T11:50:32.6490000Z</dcterms:modified>
</coreProperties>
</file>